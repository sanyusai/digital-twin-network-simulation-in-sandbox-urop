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51560"/>
            <a:ext cx="41148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4400" b="1">
                <a:solidFill>
                  <a:srgbClr val="EEF2F7"/>
                </a:solidFill>
                <a:latin typeface="Aptos"/>
              </a:rP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737360"/>
            <a:ext cx="99669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100" b="1">
                <a:solidFill>
                  <a:srgbClr val="4297BE"/>
                </a:solidFill>
                <a:latin typeface="Aptos"/>
              </a:rPr>
              <a:t>Tamper-Resistant Analysis, Containment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304288"/>
            <a:ext cx="45720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0">
                <a:solidFill>
                  <a:srgbClr val="A6B0BE"/>
                </a:solidFill>
                <a:latin typeface="Aptos"/>
              </a:rPr>
              <a:t>Post-Exploitation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063240"/>
            <a:ext cx="10881360" cy="1325880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56432"/>
            <a:ext cx="10332720" cy="4114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EEF2F7"/>
                </a:solidFill>
                <a:latin typeface="Aptos"/>
              </a:rPr>
              <a:t>Evidence sealing  →  verified disposal  →  fresh twin rebuild  →  intelligence extraction &amp;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6547104"/>
            <a:ext cx="10972800" cy="1463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6B0BE"/>
                </a:solidFill>
                <a:latin typeface="Aptos"/>
              </a:rPr>
              <a:t>TRACE  |  Post-Exploitation Research Framework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EEF2F7"/>
                </a:solidFill>
                <a:latin typeface="Aptos"/>
              </a:rP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040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6B0BE"/>
                </a:solidFill>
                <a:latin typeface="Aptos"/>
              </a:rPr>
              <a:t>TRACE addresses the unresolved post-exploitation lifecycle of an infected malware-analysis environment.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5349240" cy="4800600"/>
          </a:xfrm>
          <a:prstGeom prst="rect">
            <a:avLst/>
          </a:prstGeom>
          <a:solidFill>
            <a:srgbClr val="1D232D"/>
          </a:solidFill>
          <a:ln w="12700">
            <a:solidFill>
              <a:srgbClr val="B9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36192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B94C56"/>
                </a:solidFill>
                <a:latin typeface="Aptos"/>
              </a:rPr>
              <a:t>The unresolved trilemma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57400"/>
            <a:ext cx="461772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50" b="0">
                <a:solidFill>
                  <a:srgbClr val="EEF2F7"/>
                </a:solidFill>
                <a:latin typeface="Aptos"/>
              </a:rPr>
              <a:t>• Retain the infected VM → persistence and compromised-state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26080"/>
            <a:ext cx="461772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50" b="0">
                <a:solidFill>
                  <a:srgbClr val="EEF2F7"/>
                </a:solidFill>
                <a:latin typeface="Aptos"/>
              </a:rPr>
              <a:t>• Destroy the VM immediately → volatile evidence may be lost.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794760"/>
            <a:ext cx="461772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50" b="0">
                <a:solidFill>
                  <a:srgbClr val="EEF2F7"/>
                </a:solidFill>
                <a:latin typeface="Aptos"/>
              </a:rPr>
              <a:t>• Extract evidence while it remains active → contamination and persistence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663440"/>
            <a:ext cx="461772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50" b="0">
                <a:solidFill>
                  <a:srgbClr val="EEF2F7"/>
                </a:solidFill>
                <a:latin typeface="Aptos"/>
              </a:rPr>
              <a:t>• No single sequential workflow combines evidence sealing, verifiable disposal and community-scale intelligence distribution.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349240" cy="4800600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47548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4297BE"/>
                </a:solidFill>
                <a:latin typeface="Aptos"/>
              </a:rPr>
              <a:t>TRACE research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57400"/>
            <a:ext cx="461772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0">
                <a:solidFill>
                  <a:srgbClr val="EEF2F7"/>
                </a:solidFill>
                <a:latin typeface="Aptos"/>
              </a:rPr>
              <a:t>• Evidence sealing becomes a mandatory prerequisite to destructive disposal.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843784"/>
            <a:ext cx="461772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0">
                <a:solidFill>
                  <a:srgbClr val="EEF2F7"/>
                </a:solidFill>
                <a:latin typeface="Aptos"/>
              </a:rPr>
              <a:t>• Evidence is cryptographically sealed before the environment is destroyed.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30168"/>
            <a:ext cx="461772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0">
                <a:solidFill>
                  <a:srgbClr val="EEF2F7"/>
                </a:solidFill>
                <a:latin typeface="Aptos"/>
              </a:rPr>
              <a:t>• Disposal is followed by a verification step and disposal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416552"/>
            <a:ext cx="461772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0">
                <a:solidFill>
                  <a:srgbClr val="EEF2F7"/>
                </a:solidFill>
                <a:latin typeface="Aptos"/>
              </a:rPr>
              <a:t>• A clean, patched digital twin is rebuilt for the next analysis cycle.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202936"/>
            <a:ext cx="461772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0">
                <a:solidFill>
                  <a:srgbClr val="EEF2F7"/>
                </a:solidFill>
                <a:latin typeface="Aptos"/>
              </a:rPr>
              <a:t>• Sealed evidence is converted into structured intelligence and routed by sensitivity.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6547104"/>
            <a:ext cx="10972800" cy="1463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6B0BE"/>
                </a:solidFill>
                <a:latin typeface="Aptos"/>
              </a:rPr>
              <a:t>TRACE  |  Post-Exploitation Research Framework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EEF2F7"/>
                </a:solidFill>
                <a:latin typeface="Aptos"/>
              </a:rPr>
              <a:t>2. TRACE Block Diagram — Post-Exploitation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040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6B0BE"/>
                </a:solidFill>
                <a:latin typeface="Aptos"/>
              </a:rPr>
              <a:t>Recreated from the supplied diagram structure and labels; no architectural components added or removed.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307592"/>
            <a:ext cx="1234440" cy="640080"/>
          </a:xfrm>
          <a:prstGeom prst="rect">
            <a:avLst/>
          </a:prstGeom>
          <a:solidFill>
            <a:srgbClr val="1D232D"/>
          </a:solidFill>
          <a:ln w="12700">
            <a:solidFill>
              <a:srgbClr val="B9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380744"/>
            <a:ext cx="108813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30" b="1">
                <a:solidFill>
                  <a:srgbClr val="B94C56"/>
                </a:solidFill>
                <a:latin typeface="Aptos"/>
              </a:rPr>
              <a:t>Post-exploitation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700784"/>
            <a:ext cx="1088136" cy="182879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00" b="0">
                <a:solidFill>
                  <a:srgbClr val="EEF2F7"/>
                </a:solidFill>
                <a:latin typeface="Aptos"/>
              </a:rPr>
              <a:t>O-NYX run completed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1627632"/>
            <a:ext cx="228600" cy="0"/>
          </a:xfrm>
          <a:prstGeom prst="line">
            <a:avLst/>
          </a:prstGeom>
          <a:ln w="1905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10512" y="960120"/>
            <a:ext cx="2331720" cy="4480560"/>
          </a:xfrm>
          <a:prstGeom prst="rect">
            <a:avLst/>
          </a:prstGeom>
          <a:solidFill>
            <a:srgbClr val="181F27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115568"/>
            <a:ext cx="19659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297BE"/>
                </a:solidFill>
                <a:latin typeface="Apto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426464"/>
            <a:ext cx="19659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0">
                <a:solidFill>
                  <a:srgbClr val="A6B0BE"/>
                </a:solidFill>
                <a:latin typeface="Aptos"/>
              </a:rPr>
              <a:t>Evidence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93392" y="1783080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544" y="1856231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297BE"/>
                </a:solidFill>
                <a:latin typeface="Aptos"/>
              </a:rPr>
              <a:t>Full memory 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176272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RAM state • decrypted payload • C2 keys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3392" y="2496312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4" y="2569464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297BE"/>
                </a:solidFill>
                <a:latin typeface="Aptos"/>
              </a:rPr>
              <a:t>Network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6544" y="2889504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PCAP • beaconing • DNS • lateral probes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93392" y="3209544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6544" y="3282696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297BE"/>
                </a:solidFill>
                <a:latin typeface="Aptos"/>
              </a:rPr>
              <a:t>File system diff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4" y="3602736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Created • modified • renamed • deleted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93392" y="3922776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66544" y="3995928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297BE"/>
                </a:solidFill>
                <a:latin typeface="Aptos"/>
              </a:rPr>
              <a:t>AI agent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4" y="4315968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ATT&amp;CK • timeline • verdict • blast radius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93392" y="4754880"/>
            <a:ext cx="1965960" cy="502920"/>
          </a:xfrm>
          <a:prstGeom prst="rect">
            <a:avLst/>
          </a:prstGeom>
          <a:solidFill>
            <a:srgbClr val="1D232D"/>
          </a:solidFill>
          <a:ln w="12700">
            <a:solidFill>
              <a:srgbClr val="80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4" y="482803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790" b="1">
                <a:solidFill>
                  <a:srgbClr val="806CB1"/>
                </a:solidFill>
                <a:latin typeface="Aptos"/>
              </a:rPr>
              <a:t>Evidence signed &amp; exported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66544" y="5148072"/>
            <a:ext cx="1819656" cy="457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30" b="0">
                <a:solidFill>
                  <a:srgbClr val="EEF2F7"/>
                </a:solidFill>
                <a:latin typeface="Aptos"/>
              </a:rPr>
              <a:t>SHA-256 hash • digital signature • immutable audit store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42232" y="1627632"/>
            <a:ext cx="246888" cy="0"/>
          </a:xfrm>
          <a:prstGeom prst="line">
            <a:avLst/>
          </a:prstGeom>
          <a:ln w="1905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389120" y="960120"/>
            <a:ext cx="2331720" cy="4480560"/>
          </a:xfrm>
          <a:prstGeom prst="rect">
            <a:avLst/>
          </a:prstGeom>
          <a:solidFill>
            <a:srgbClr val="1F1D19"/>
          </a:solidFill>
          <a:ln w="12700">
            <a:solidFill>
              <a:srgbClr val="CF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1115568"/>
            <a:ext cx="19659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CF9742"/>
                </a:solidFill>
                <a:latin typeface="Aptos"/>
              </a:rPr>
              <a:t>STAGE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1426464"/>
            <a:ext cx="19659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0">
                <a:solidFill>
                  <a:srgbClr val="A6B0BE"/>
                </a:solidFill>
                <a:latin typeface="Aptos"/>
              </a:rPr>
              <a:t>Secure disposal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783080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CF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1856231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CF9742"/>
                </a:solidFill>
                <a:latin typeface="Aptos"/>
              </a:rPr>
              <a:t>VM terminated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2176272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Hard termination at hypervisor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496312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CF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2569464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CF9742"/>
                </a:solidFill>
                <a:latin typeface="Aptos"/>
              </a:rPr>
              <a:t>Memory zeroed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2889504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Clear volatile 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209544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CF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3282696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CF9742"/>
                </a:solidFill>
                <a:latin typeface="Aptos"/>
              </a:rPr>
              <a:t>Disk wiped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3602736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Cryptographic key destruction / cryptoshredding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922776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CF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3995928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CF9742"/>
                </a:solidFill>
                <a:latin typeface="Aptos"/>
              </a:rPr>
              <a:t>VPC torn 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4315968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Remove isolated network resources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754880"/>
            <a:ext cx="1965960" cy="502920"/>
          </a:xfrm>
          <a:prstGeom prst="rect">
            <a:avLst/>
          </a:prstGeom>
          <a:solidFill>
            <a:srgbClr val="1D232D"/>
          </a:solidFill>
          <a:ln w="12700">
            <a:solidFill>
              <a:srgbClr val="63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5152" y="482803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790" b="1">
                <a:solidFill>
                  <a:srgbClr val="63B183"/>
                </a:solidFill>
                <a:latin typeface="Aptos"/>
              </a:rPr>
              <a:t>DISPOSAL VERIFIED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2" y="5148072"/>
            <a:ext cx="1819656" cy="457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30" b="0">
                <a:solidFill>
                  <a:srgbClr val="EEF2F7"/>
                </a:solidFill>
                <a:latin typeface="Aptos"/>
              </a:rPr>
              <a:t>Verification check + disposal certificate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20840" y="1627632"/>
            <a:ext cx="246888" cy="0"/>
          </a:xfrm>
          <a:prstGeom prst="line">
            <a:avLst/>
          </a:prstGeom>
          <a:ln w="1905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967728" y="960120"/>
            <a:ext cx="2331720" cy="4480560"/>
          </a:xfrm>
          <a:prstGeom prst="rect">
            <a:avLst/>
          </a:prstGeom>
          <a:solidFill>
            <a:srgbClr val="18211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50608" y="1115568"/>
            <a:ext cx="19659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4EA374"/>
                </a:solidFill>
                <a:latin typeface="Aptos"/>
              </a:rPr>
              <a:t>STAGE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50608" y="1426464"/>
            <a:ext cx="19659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0">
                <a:solidFill>
                  <a:srgbClr val="A6B0BE"/>
                </a:solidFill>
                <a:latin typeface="Aptos"/>
              </a:rPr>
              <a:t>Fresh twin rebuild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50608" y="1783080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23760" y="1856231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EA374"/>
                </a:solidFill>
                <a:latin typeface="Aptos"/>
              </a:rPr>
              <a:t>Org snapshot loaded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2176272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Latest clean network state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608" y="2496312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23760" y="2569464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EA374"/>
                </a:solidFill>
                <a:latin typeface="Aptos"/>
              </a:rPr>
              <a:t>Twin rebuilt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889504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Fresh analysis environment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50608" y="3209544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23760" y="3282696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EA374"/>
                </a:solidFill>
                <a:latin typeface="Aptos"/>
              </a:rPr>
              <a:t>Patches applied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3602736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Known weaknesses addressed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50608" y="3922776"/>
            <a:ext cx="1965960" cy="566928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60" y="3995928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4EA374"/>
                </a:solidFill>
                <a:latin typeface="Aptos"/>
              </a:rPr>
              <a:t>AI agent reinstalled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4315968"/>
            <a:ext cx="1819656" cy="1097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70" b="0">
                <a:solidFill>
                  <a:srgbClr val="EEF2F7"/>
                </a:solidFill>
                <a:latin typeface="Aptos"/>
              </a:rPr>
              <a:t>Ready for next analysis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50608" y="4754880"/>
            <a:ext cx="1965960" cy="502920"/>
          </a:xfrm>
          <a:prstGeom prst="rect">
            <a:avLst/>
          </a:prstGeom>
          <a:solidFill>
            <a:srgbClr val="1D232D"/>
          </a:solidFill>
          <a:ln w="12700">
            <a:solidFill>
              <a:srgbClr val="537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482803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30" b="1">
                <a:solidFill>
                  <a:srgbClr val="537DB5"/>
                </a:solidFill>
                <a:latin typeface="Aptos"/>
              </a:rPr>
              <a:t>READY FOR NEXT THREAT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299448" y="1627632"/>
            <a:ext cx="256032" cy="0"/>
          </a:xfrm>
          <a:prstGeom prst="line">
            <a:avLst/>
          </a:prstGeom>
          <a:ln w="1905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9555480" y="1234440"/>
            <a:ext cx="2240280" cy="2743200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84080" y="1508760"/>
            <a:ext cx="17830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EEF2F7"/>
                </a:solidFill>
                <a:latin typeface="Aptos"/>
              </a:rPr>
              <a:t>WHAT PERSISTS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2029968"/>
            <a:ext cx="178308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297BE"/>
                </a:solidFill>
                <a:latin typeface="Aptos"/>
              </a:rPr>
              <a:t>Immutable audit store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2578608"/>
            <a:ext cx="178308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806CB1"/>
                </a:solidFill>
                <a:latin typeface="Aptos"/>
              </a:rPr>
              <a:t>Threat intelligence DB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3127248"/>
            <a:ext cx="178308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4EA374"/>
                </a:solidFill>
                <a:latin typeface="Aptos"/>
              </a:rPr>
              <a:t>AI model improves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5488" y="6547104"/>
            <a:ext cx="10972800" cy="1463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6B0BE"/>
                </a:solidFill>
                <a:latin typeface="Aptos"/>
              </a:rPr>
              <a:t>TRACE  |  Post-Exploitation Research Framework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EEF2F7"/>
                </a:solidFill>
                <a:latin typeface="Aptos"/>
              </a:rPr>
              <a:t>3. TRACE Block Diagram — Intelligence Extraction &amp; Community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040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6B0BE"/>
                </a:solidFill>
                <a:latin typeface="Aptos"/>
              </a:rPr>
              <a:t>Recreated from the supplied diagram structure and terminology.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024128"/>
            <a:ext cx="1508760" cy="685800"/>
          </a:xfrm>
          <a:prstGeom prst="rect">
            <a:avLst/>
          </a:prstGeom>
          <a:solidFill>
            <a:srgbClr val="1D232D"/>
          </a:solidFill>
          <a:ln w="12700">
            <a:solidFill>
              <a:srgbClr val="B9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3624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B94C56"/>
                </a:solidFill>
                <a:latin typeface="Aptos"/>
              </a:rPr>
              <a:t>Digital twin sandbox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92807" y="1371600"/>
            <a:ext cx="320041" cy="0"/>
          </a:xfrm>
          <a:prstGeom prst="line">
            <a:avLst/>
          </a:prstGeom>
          <a:ln w="1905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12848" y="914400"/>
            <a:ext cx="2148840" cy="868680"/>
          </a:xfrm>
          <a:prstGeom prst="rect">
            <a:avLst/>
          </a:prstGeom>
          <a:solidFill>
            <a:srgbClr val="1D232D"/>
          </a:solidFill>
          <a:ln w="12700">
            <a:solidFill>
              <a:srgbClr val="80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987552"/>
            <a:ext cx="200253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19" b="1">
                <a:solidFill>
                  <a:srgbClr val="806CB1"/>
                </a:solidFill>
                <a:latin typeface="Aptos"/>
              </a:rPr>
              <a:t>Intelligence extraction engine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61688" y="1371600"/>
            <a:ext cx="320040" cy="0"/>
          </a:xfrm>
          <a:prstGeom prst="line">
            <a:avLst/>
          </a:prstGeom>
          <a:ln w="1905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681728" y="914400"/>
            <a:ext cx="1965960" cy="1143000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98755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80" b="1">
                <a:solidFill>
                  <a:srgbClr val="4297BE"/>
                </a:solidFill>
                <a:latin typeface="Aptos"/>
              </a:rPr>
              <a:t>APT fingerprinting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307592"/>
            <a:ext cx="1819656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EEF2F7"/>
                </a:solidFill>
                <a:latin typeface="Aptos"/>
              </a:rPr>
              <a:t>TTP similarity / confidence-scored 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76872" y="914400"/>
            <a:ext cx="1965960" cy="1143000"/>
          </a:xfrm>
          <a:prstGeom prst="rect">
            <a:avLst/>
          </a:prstGeom>
          <a:solidFill>
            <a:srgbClr val="1D232D"/>
          </a:solidFill>
          <a:ln w="12700">
            <a:solidFill>
              <a:srgbClr val="B94C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0024" y="98755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80" b="1">
                <a:solidFill>
                  <a:srgbClr val="B94C56"/>
                </a:solidFill>
                <a:latin typeface="Aptos"/>
              </a:rPr>
              <a:t>Zero-day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0024" y="1307592"/>
            <a:ext cx="1819656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EEF2F7"/>
                </a:solidFill>
                <a:latin typeface="Aptos"/>
              </a:rPr>
              <a:t>Candidate flag for analyst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72016" y="914400"/>
            <a:ext cx="1965960" cy="1143000"/>
          </a:xfrm>
          <a:prstGeom prst="rect">
            <a:avLst/>
          </a:prstGeom>
          <a:solidFill>
            <a:srgbClr val="1D232D"/>
          </a:solidFill>
          <a:ln w="12700">
            <a:solidFill>
              <a:srgbClr val="537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98755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80" b="1">
                <a:solidFill>
                  <a:srgbClr val="537DB5"/>
                </a:solidFill>
                <a:latin typeface="Aptos"/>
              </a:rPr>
              <a:t>Attack framework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1307592"/>
            <a:ext cx="1819656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EEF2F7"/>
                </a:solidFill>
                <a:latin typeface="Aptos"/>
              </a:rPr>
              <a:t>MITRE ATT&amp;CK techniques 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1728" y="2514600"/>
            <a:ext cx="1965960" cy="1143000"/>
          </a:xfrm>
          <a:prstGeom prst="rect">
            <a:avLst/>
          </a:prstGeom>
          <a:solidFill>
            <a:srgbClr val="1D232D"/>
          </a:solidFill>
          <a:ln w="12700">
            <a:solidFill>
              <a:srgbClr val="CF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58775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80" b="1">
                <a:solidFill>
                  <a:srgbClr val="CF9742"/>
                </a:solidFill>
                <a:latin typeface="Aptos"/>
              </a:rPr>
              <a:t>Exploit script reconstruction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907792"/>
            <a:ext cx="1819656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EEF2F7"/>
                </a:solidFill>
                <a:latin typeface="Aptos"/>
              </a:rPr>
              <a:t>Technique / exploit behaviour reconstructed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76872" y="2514600"/>
            <a:ext cx="1965960" cy="1143000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2587752"/>
            <a:ext cx="1819656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80" b="1">
                <a:solidFill>
                  <a:srgbClr val="4EA374"/>
                </a:solidFill>
                <a:latin typeface="Aptos"/>
              </a:rPr>
              <a:t>IOC package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2907792"/>
            <a:ext cx="1819656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EEF2F7"/>
                </a:solidFill>
                <a:latin typeface="Aptos"/>
              </a:rPr>
              <a:t>Hashes • domains • IPs • behavioural indicators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81728" y="1371600"/>
            <a:ext cx="0" cy="251460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81728" y="1371600"/>
            <a:ext cx="6556248" cy="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681728" y="914400"/>
            <a:ext cx="0" cy="45720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976872" y="914400"/>
            <a:ext cx="0" cy="45720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272016" y="914400"/>
            <a:ext cx="0" cy="45720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81728" y="2514600"/>
            <a:ext cx="0" cy="137160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76872" y="1371600"/>
            <a:ext cx="0" cy="114300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125712" y="2514600"/>
            <a:ext cx="2331720" cy="1143000"/>
          </a:xfrm>
          <a:prstGeom prst="rect">
            <a:avLst/>
          </a:prstGeom>
          <a:solidFill>
            <a:srgbClr val="1D232D"/>
          </a:solidFill>
          <a:ln w="12700">
            <a:solidFill>
              <a:srgbClr val="80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98864" y="2587752"/>
            <a:ext cx="2185415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69" b="1">
                <a:solidFill>
                  <a:srgbClr val="806CB1"/>
                </a:solidFill>
                <a:latin typeface="Aptos"/>
              </a:rPr>
              <a:t>Intelligence output cluster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2907792"/>
            <a:ext cx="2185415" cy="6858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60" b="0">
                <a:solidFill>
                  <a:srgbClr val="EEF2F7"/>
                </a:solidFill>
                <a:latin typeface="Aptos"/>
              </a:rPr>
              <a:t>APT attribution report • Zero-day vulnerability report • MITRE ATT&amp;CK mapping • Exploit technique decoded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942832" y="3090672"/>
            <a:ext cx="182880" cy="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942832" y="3090672"/>
            <a:ext cx="182880" cy="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54996" y="2057400"/>
            <a:ext cx="0" cy="457200"/>
          </a:xfrm>
          <a:prstGeom prst="line">
            <a:avLst/>
          </a:prstGeom>
          <a:ln w="15240">
            <a:solidFill>
              <a:srgbClr val="806C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125712" y="3977639"/>
            <a:ext cx="2331720" cy="658368"/>
          </a:xfrm>
          <a:prstGeom prst="rect">
            <a:avLst/>
          </a:prstGeom>
          <a:solidFill>
            <a:srgbClr val="1D232D"/>
          </a:solidFill>
          <a:ln w="12700">
            <a:solidFill>
              <a:srgbClr val="537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8864" y="4050791"/>
            <a:ext cx="2185415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880" b="1">
                <a:solidFill>
                  <a:srgbClr val="537DB5"/>
                </a:solidFill>
                <a:latin typeface="Aptos"/>
              </a:rPr>
              <a:t>SOC analyst intelligence brief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287000" y="3657600"/>
            <a:ext cx="0" cy="320039"/>
          </a:xfrm>
          <a:prstGeom prst="line">
            <a:avLst/>
          </a:prstGeom>
          <a:ln w="1778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02920" y="4160520"/>
            <a:ext cx="8183879" cy="1325880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343400"/>
            <a:ext cx="1737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EF2F7"/>
                </a:solidFill>
                <a:latin typeface="Aptos"/>
              </a:rPr>
              <a:t>Internal SOC actions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7168" y="4315968"/>
            <a:ext cx="1307592" cy="749808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60320" y="4389120"/>
            <a:ext cx="116128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760" b="1">
                <a:solidFill>
                  <a:srgbClr val="4297BE"/>
                </a:solidFill>
                <a:latin typeface="Aptos"/>
              </a:rPr>
              <a:t>Security policy update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4315968"/>
            <a:ext cx="1307592" cy="749808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05072" y="4389120"/>
            <a:ext cx="116128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760" b="1">
                <a:solidFill>
                  <a:srgbClr val="4297BE"/>
                </a:solidFill>
                <a:latin typeface="Aptos"/>
              </a:rPr>
              <a:t>Firewall rule push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76672" y="4315968"/>
            <a:ext cx="1307592" cy="749808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9824" y="4389120"/>
            <a:ext cx="116128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760" b="1">
                <a:solidFill>
                  <a:srgbClr val="4EA374"/>
                </a:solidFill>
                <a:latin typeface="Aptos"/>
              </a:rPr>
              <a:t>Detection rule created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21424" y="4315968"/>
            <a:ext cx="1307592" cy="749808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94576" y="4389120"/>
            <a:ext cx="1161288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760" b="1">
                <a:solidFill>
                  <a:srgbClr val="4EA374"/>
                </a:solidFill>
                <a:latin typeface="Aptos"/>
              </a:rPr>
              <a:t>Penetration test simulation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686800" y="4828032"/>
            <a:ext cx="256032" cy="0"/>
          </a:xfrm>
          <a:prstGeom prst="line">
            <a:avLst/>
          </a:prstGeom>
          <a:ln w="17780">
            <a:solidFill>
              <a:srgbClr val="525D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942832" y="4892040"/>
            <a:ext cx="2697480" cy="960120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62288" y="5047488"/>
            <a:ext cx="2258568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>
                <a:solidFill>
                  <a:srgbClr val="4EA374"/>
                </a:solidFill>
                <a:latin typeface="Aptos"/>
              </a:rPr>
              <a:t>Community threat sharing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25712" y="5321808"/>
            <a:ext cx="2331720" cy="3657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EEF2F7"/>
                </a:solidFill>
                <a:latin typeface="Aptos"/>
              </a:rPr>
              <a:t>STIX/TAXII feed  •  MISP platform sync  •  CERT/NCSC disclosure  •  immune-system effect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" y="6547104"/>
            <a:ext cx="10972800" cy="1463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6B0BE"/>
                </a:solidFill>
                <a:latin typeface="Aptos"/>
              </a:rPr>
              <a:t>TRACE  |  Post-Exploitation Research Framework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82880"/>
            <a:ext cx="11430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2300" b="1">
                <a:solidFill>
                  <a:srgbClr val="F2F6FC"/>
                </a:solidFill>
                <a:latin typeface="Aptos"/>
              </a:rPr>
              <a:t>4. Full TRACE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03504"/>
            <a:ext cx="1129284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930" b="0">
                <a:solidFill>
                  <a:srgbClr val="A5B4C9"/>
                </a:solidFill>
                <a:latin typeface="Aptos"/>
              </a:rPr>
              <a:t>Master timeline: Stages 9–12 only — evidence, verified disposal, intelligence distribution and clean twin rebuild.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14400"/>
            <a:ext cx="11475720" cy="274320"/>
          </a:xfrm>
          <a:prstGeom prst="roundRect">
            <a:avLst/>
          </a:prstGeom>
          <a:solidFill>
            <a:srgbClr val="32CDFF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955547"/>
            <a:ext cx="11384280" cy="164592"/>
          </a:xfrm>
          <a:prstGeom prst="rect">
            <a:avLst/>
          </a:prstGeom>
          <a:noFill/>
        </p:spPr>
        <p:txBody>
          <a:bodyPr wrap="square" lIns="32004" rIns="32004" tIns="18288" bIns="18288" anchor="ctr">
            <a:spAutoFit/>
          </a:bodyPr>
          <a:lstStyle/>
          <a:p>
            <a:pPr algn="ctr"/>
            <a:r>
              <a:rPr sz="770" b="1">
                <a:solidFill>
                  <a:srgbClr val="F2F6FC"/>
                </a:solidFill>
                <a:latin typeface="Aptos"/>
              </a:rPr>
              <a:t>POST-EXPLOITATION / TRACE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61872"/>
            <a:ext cx="5577840" cy="23317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32C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16736"/>
            <a:ext cx="5449824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32CDFF"/>
                </a:solidFill>
                <a:latin typeface="Aptos"/>
              </a:rPr>
              <a:t>STAGE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517904"/>
            <a:ext cx="543153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Evidence Harvest + Sealing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83664"/>
            <a:ext cx="5394959" cy="16276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725" b="0">
                <a:solidFill>
                  <a:srgbClr val="A5B4C9"/>
                </a:solidFill>
                <a:latin typeface="Aptos"/>
              </a:rPr>
              <a:t>BEFORE disposal:
• Memory dump — full Detonation-Point VM memory image
• Network capture (PCAP) — every packet sent/received inside the twin
• Filesystem diff — every file created / modified / deleted
• Covert agent full report — behaviour log, intent classification, ATT&amp;CK mapping
Sealing: evidence bundle is HASH-CHAINED, cryptographically SIGNED, then committed to an IMMUTABLE AUDIT STORE. Only after this can disposal proceed.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61872"/>
            <a:ext cx="5577840" cy="2331720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FF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1316736"/>
            <a:ext cx="5449824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FFAE49"/>
                </a:solidFill>
                <a:latin typeface="Aptos"/>
              </a:rPr>
              <a:t>STAGE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517904"/>
            <a:ext cx="543153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Verified Disposal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883664"/>
            <a:ext cx="5394959" cy="162763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725" b="0">
                <a:solidFill>
                  <a:srgbClr val="A5B4C9"/>
                </a:solidFill>
                <a:latin typeface="Aptos"/>
              </a:rPr>
              <a:t>Only after the evidence is safely sealed:
• VM termination — every VM shut down
• Memory zeroing — RAM overwritten
• Disk cryptoshredding — encryption keys destroyed; data unrecoverable
• VPC teardown — entire virtual network deleted
Then TRACE creates a SIGNED DISPOSAL CERTIFICATE proving teardown happened and was complete.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913632"/>
            <a:ext cx="5577840" cy="226771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5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968496"/>
            <a:ext cx="5449824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5891FF"/>
                </a:solidFill>
                <a:latin typeface="Aptos"/>
              </a:rPr>
              <a:t>STAGE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4169664"/>
            <a:ext cx="543153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Intelligence Extraction +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535424"/>
            <a:ext cx="5394959" cy="1563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700" b="0">
                <a:solidFill>
                  <a:srgbClr val="A5B4C9"/>
                </a:solidFill>
                <a:latin typeface="Aptos"/>
              </a:rPr>
              <a:t>From the sealed bundle:
• IOC package — hashes, IPs, domains, file paths → STIX/TAXII → MISP for regular IOCs
• ATT&amp;CK technique map — every observed MITRE technique ID
• TTP-similarity report — behavioural similarity to known campaigns/families; deliberately avoids attribution claims
• Zero-day candidate — ONLY when behaviour matches no known pattern; reviewer-gated, never auto-declared; confirmed candidate follows ~90-day responsible-disclosure embargo before public sharing.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13632"/>
            <a:ext cx="5577840" cy="2267712"/>
          </a:xfrm>
          <a:prstGeom prst="roundRect">
            <a:avLst/>
          </a:prstGeom>
          <a:solidFill>
            <a:srgbClr val="161F31"/>
          </a:solidFill>
          <a:ln w="12700">
            <a:solidFill>
              <a:srgbClr val="47D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3968496"/>
            <a:ext cx="5449824" cy="182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720" b="1">
                <a:solidFill>
                  <a:srgbClr val="47DC99"/>
                </a:solidFill>
                <a:latin typeface="Aptos"/>
              </a:rPr>
              <a:t>STAGE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169664"/>
            <a:ext cx="5431536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2F6FC"/>
                </a:solidFill>
                <a:latin typeface="Aptos"/>
              </a:rPr>
              <a:t>Twin Rebuild + Institutional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4535424"/>
            <a:ext cx="5394959" cy="156362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/>
            <a:r>
              <a:rPr sz="735" b="0">
                <a:solidFill>
                  <a:srgbClr val="A5B4C9"/>
                </a:solidFill>
                <a:latin typeface="Aptos"/>
              </a:rPr>
              <a:t>After the run, build a FRESH twin for the next detonation.
Persist across every rebuild:
• Immutable audit store
• Threat-intelligence database
• Retrained AI classifier
Everything else is torn down and rebuilt clean.
Cycle repeats from Stage 5 for the next medium-score file.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97880" y="2423160"/>
            <a:ext cx="274320" cy="0"/>
          </a:xfrm>
          <a:prstGeom prst="line">
            <a:avLst/>
          </a:prstGeom>
          <a:ln w="1651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897880" y="5047488"/>
            <a:ext cx="274320" cy="0"/>
          </a:xfrm>
          <a:prstGeom prst="line">
            <a:avLst/>
          </a:prstGeom>
          <a:ln w="16510">
            <a:solidFill>
              <a:srgbClr val="A5B4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6446520"/>
            <a:ext cx="10972800" cy="475488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653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556248"/>
            <a:ext cx="10652760" cy="228600"/>
          </a:xfrm>
          <a:prstGeom prst="rect">
            <a:avLst/>
          </a:prstGeom>
          <a:noFill/>
        </p:spPr>
        <p:txBody>
          <a:bodyPr wrap="square" lIns="32004" rIns="32004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F2F6FC"/>
                </a:solidFill>
                <a:latin typeface="Aptos"/>
              </a:rPr>
              <a:t>Core TRACE principle: the analysis environment is disposable, but the evidence and intelligence survive — with cryptographic proof of what was collected and what was destroyed.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EEF2F7"/>
                </a:solidFill>
                <a:latin typeface="Aptos"/>
              </a:rPr>
              <a:t>5. Real-Life Use Case — “The Fake Invoice”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040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6B0BE"/>
                </a:solidFill>
                <a:latin typeface="Aptos"/>
              </a:rPr>
              <a:t>TRACE continues the same incident after O-NYX classifies the sample.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0881360" cy="658368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53312"/>
            <a:ext cx="105156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20" b="1">
                <a:solidFill>
                  <a:srgbClr val="EEF2F7"/>
                </a:solidFill>
                <a:latin typeface="Aptos"/>
              </a:rPr>
              <a:t>O-NYX output: Ransomware • 94% confidence • forensic report • predicted path: Finance PC → shared drive → backup server →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1481328" cy="2788920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297BE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61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EEF2F7"/>
                </a:solidFill>
                <a:latin typeface="Aptos"/>
              </a:rPr>
              <a:t>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337560"/>
            <a:ext cx="1261872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A6B0BE"/>
                </a:solidFill>
                <a:latin typeface="Aptos"/>
              </a:rPr>
              <a:t>RAM + PCAP + filesystem diff + AI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2148840"/>
            <a:ext cx="1481328" cy="2788920"/>
          </a:xfrm>
          <a:prstGeom prst="rect">
            <a:avLst/>
          </a:prstGeom>
          <a:solidFill>
            <a:srgbClr val="1D232D"/>
          </a:solidFill>
          <a:ln w="12700">
            <a:solidFill>
              <a:srgbClr val="806C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806CB1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2761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EEF2F7"/>
                </a:solidFill>
                <a:latin typeface="Aptos"/>
              </a:rPr>
              <a:t>SEAL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1136" y="3337560"/>
            <a:ext cx="1261872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A6B0BE"/>
                </a:solidFill>
                <a:latin typeface="Aptos"/>
              </a:rPr>
              <a:t>Evidence bundle + SHA-256 + signature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9896" y="2148840"/>
            <a:ext cx="1481328" cy="2788920"/>
          </a:xfrm>
          <a:prstGeom prst="rect">
            <a:avLst/>
          </a:prstGeom>
          <a:solidFill>
            <a:srgbClr val="1D232D"/>
          </a:solidFill>
          <a:ln w="12700">
            <a:solidFill>
              <a:srgbClr val="CF9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5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CF974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2761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EEF2F7"/>
                </a:solidFill>
                <a:latin typeface="Aptos"/>
              </a:rPr>
              <a:t>DISPOSE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3337560"/>
            <a:ext cx="1261872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A6B0BE"/>
                </a:solidFill>
                <a:latin typeface="Aptos"/>
              </a:rPr>
              <a:t>Terminate VM + zero memory + cryptoshred disk + VPC teardown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58383" y="2148840"/>
            <a:ext cx="1481328" cy="2788920"/>
          </a:xfrm>
          <a:prstGeom prst="rect">
            <a:avLst/>
          </a:prstGeom>
          <a:solidFill>
            <a:srgbClr val="1D232D"/>
          </a:solidFill>
          <a:ln w="12700">
            <a:solidFill>
              <a:srgbClr val="63B1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9823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63B183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9823" y="2761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EEF2F7"/>
                </a:solidFill>
                <a:latin typeface="Aptos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8112" y="3337560"/>
            <a:ext cx="1261872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A6B0BE"/>
                </a:solidFill>
                <a:latin typeface="Aptos"/>
              </a:rPr>
              <a:t>Disposal verification + certificate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76871" y="2148840"/>
            <a:ext cx="1481328" cy="2788920"/>
          </a:xfrm>
          <a:prstGeom prst="rect">
            <a:avLst/>
          </a:prstGeom>
          <a:solidFill>
            <a:srgbClr val="1D232D"/>
          </a:solidFill>
          <a:ln w="12700">
            <a:solidFill>
              <a:srgbClr val="537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1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537DB5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1" y="2761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EEF2F7"/>
                </a:solidFill>
                <a:latin typeface="Aptos"/>
              </a:rPr>
              <a:t>EXTRACT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599" y="3337560"/>
            <a:ext cx="1261872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A6B0BE"/>
                </a:solidFill>
                <a:latin typeface="Aptos"/>
              </a:rPr>
              <a:t>IOC + ATT&amp;CK + TTP similarity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59" y="2148840"/>
            <a:ext cx="1481328" cy="2788920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297BE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799" y="2761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EEF2F7"/>
                </a:solidFill>
                <a:latin typeface="Aptos"/>
              </a:rPr>
              <a:t>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7" y="3337560"/>
            <a:ext cx="1261872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A6B0BE"/>
                </a:solidFill>
                <a:latin typeface="Aptos"/>
              </a:rPr>
              <a:t>Known IOCs → STIX/TAXII/MISP; sensitive candidate →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13847" y="2148840"/>
            <a:ext cx="1481328" cy="2788920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7" y="2331720"/>
            <a:ext cx="274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4EA374"/>
                </a:solidFill>
                <a:latin typeface="Apto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7" y="2761488"/>
            <a:ext cx="1298448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EEF2F7"/>
                </a:solidFill>
                <a:latin typeface="Aptos"/>
              </a:rPr>
              <a:t>REBUILD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23575" y="3337560"/>
            <a:ext cx="1261872" cy="11430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A6B0BE"/>
                </a:solidFill>
                <a:latin typeface="Aptos"/>
              </a:rPr>
              <a:t>Fresh patched twin + AI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63B183"/>
                </a:solidFill>
                <a:latin typeface="Aptos"/>
              </a:rPr>
              <a:t>Outcome: the analysis environment is disposed of, the evidence remains independently checkable, and the next twin starts with the knowledge gained from the attack.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6547104"/>
            <a:ext cx="10972800" cy="1463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6B0BE"/>
                </a:solidFill>
                <a:latin typeface="Aptos"/>
              </a:rPr>
              <a:t>TRACE  |  Post-Exploitation Research Framework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EEF2F7"/>
                </a:solidFill>
                <a:latin typeface="Aptos"/>
              </a:rPr>
              <a:t>6. Outcomes &amp; Research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040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6B0BE"/>
                </a:solidFill>
                <a:latin typeface="Aptos"/>
              </a:rPr>
              <a:t>The contribution is the integrated, auditable ordering — not invention of each primitive.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94960" cy="4892040"/>
          </a:xfrm>
          <a:prstGeom prst="rect">
            <a:avLst/>
          </a:prstGeom>
          <a:solidFill>
            <a:srgbClr val="1D232D"/>
          </a:solidFill>
          <a:ln w="12700">
            <a:solidFill>
              <a:srgbClr val="4EA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448056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4EA374"/>
                </a:solidFill>
                <a:latin typeface="Aptos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65960"/>
            <a:ext cx="4572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EF2F7"/>
                </a:solidFill>
                <a:latin typeface="Aptos"/>
              </a:rPr>
              <a:t>• Preserve volatile forensic evidence before destruction.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78608"/>
            <a:ext cx="4572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EF2F7"/>
                </a:solidFill>
                <a:latin typeface="Aptos"/>
              </a:rPr>
              <a:t>• Create a cryptographically verifiable evidence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191256"/>
            <a:ext cx="4572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EF2F7"/>
                </a:solidFill>
                <a:latin typeface="Aptos"/>
              </a:rPr>
              <a:t>• Verify disposal rather than merely reporting VM deletion.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803904"/>
            <a:ext cx="4572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EF2F7"/>
                </a:solidFill>
                <a:latin typeface="Aptos"/>
              </a:rPr>
              <a:t>• Rebuild a clean, patched digital twin.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416552"/>
            <a:ext cx="4572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EF2F7"/>
                </a:solidFill>
                <a:latin typeface="Aptos"/>
              </a:rPr>
              <a:t>• Generate structured IOCs, ATT&amp;CK information and TTP-similarity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029200"/>
            <a:ext cx="45720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EEF2F7"/>
                </a:solidFill>
                <a:latin typeface="Aptos"/>
              </a:rPr>
              <a:t>• Route ordinary and sensitive findings appropriately.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94960" cy="4892040"/>
          </a:xfrm>
          <a:prstGeom prst="rect">
            <a:avLst/>
          </a:prstGeom>
          <a:solidFill>
            <a:srgbClr val="1D232D"/>
          </a:solidFill>
          <a:ln w="12700">
            <a:solidFill>
              <a:srgbClr val="429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81328"/>
            <a:ext cx="45720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4297BE"/>
                </a:solidFill>
                <a:latin typeface="Aptos"/>
              </a:rPr>
              <a:t>Research novelty /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65960"/>
            <a:ext cx="4572000" cy="6035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70" b="0">
                <a:solidFill>
                  <a:srgbClr val="EEF2F7"/>
                </a:solidFill>
                <a:latin typeface="Aptos"/>
              </a:rPr>
              <a:t>• Existing primitives include forensic acquisition, hashing, cryptographic erasure, IOC extraction and STIX/TAXII.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624328"/>
            <a:ext cx="4572000" cy="6035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70" b="0">
                <a:solidFill>
                  <a:srgbClr val="EEF2F7"/>
                </a:solidFill>
                <a:latin typeface="Aptos"/>
              </a:rPr>
              <a:t>• TRACE makes evidence sealing a prerequisite for destructive sandbox disposal.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282696"/>
            <a:ext cx="4572000" cy="6035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70" b="0">
                <a:solidFill>
                  <a:srgbClr val="EEF2F7"/>
                </a:solidFill>
                <a:latin typeface="Aptos"/>
              </a:rPr>
              <a:t>• Proposed sequence: evidence freeze → cryptographic seal → disposal → verification → intelligence extraction → sensitivity-aware distribution.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941063"/>
            <a:ext cx="4572000" cy="6035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70" b="0">
                <a:solidFill>
                  <a:srgbClr val="EEF2F7"/>
                </a:solidFill>
                <a:latin typeface="Aptos"/>
              </a:rPr>
              <a:t>• The strongest claim is an integrated confirmation-gated post-exploitation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4599431"/>
            <a:ext cx="4572000" cy="6035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70" b="0">
                <a:solidFill>
                  <a:srgbClr val="EEF2F7"/>
                </a:solidFill>
                <a:latin typeface="Aptos"/>
              </a:rPr>
              <a:t>• Evaluation should measure evidence completeness, disposal verification, latency, IOC quality and end-to-end CTI distribution.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6547104"/>
            <a:ext cx="10972800" cy="1463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6B0BE"/>
                </a:solidFill>
                <a:latin typeface="Aptos"/>
              </a:rPr>
              <a:t>TRACE  |  Post-Exploitation Research Framework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155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400" b="1">
                <a:solidFill>
                  <a:srgbClr val="EEF2F7"/>
                </a:solidFill>
                <a:latin typeface="Aptos"/>
              </a:rPr>
              <a:t>7. Target Journals / Literature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7040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>
                <a:solidFill>
                  <a:srgbClr val="A6B0BE"/>
                </a:solidFill>
                <a:latin typeface="Aptos"/>
              </a:rPr>
              <a:t>Same candidate journal list used for the O-NYX presentation.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10789920" cy="612648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399031"/>
            <a:ext cx="274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297BE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389888"/>
            <a:ext cx="96012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1">
                <a:solidFill>
                  <a:srgbClr val="EEF2F7"/>
                </a:solidFill>
                <a:latin typeface="Aptos"/>
              </a:rPr>
              <a:t>International Journal of Computer Applications in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84831"/>
            <a:ext cx="10789920" cy="612648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21991"/>
            <a:ext cx="274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297BE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212848"/>
            <a:ext cx="96012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1">
                <a:solidFill>
                  <a:srgbClr val="EEF2F7"/>
                </a:solidFill>
                <a:latin typeface="Aptos"/>
              </a:rPr>
              <a:t>International Journal of Security and Networks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07791"/>
            <a:ext cx="10789920" cy="612648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44951"/>
            <a:ext cx="274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297BE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035808"/>
            <a:ext cx="96012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1">
                <a:solidFill>
                  <a:srgbClr val="EEF2F7"/>
                </a:solidFill>
                <a:latin typeface="Aptos"/>
              </a:rPr>
              <a:t>International Journal of Electronic Security and Digital Forensics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730752"/>
            <a:ext cx="10789920" cy="612648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67912"/>
            <a:ext cx="274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297BE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858768"/>
            <a:ext cx="96012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1">
                <a:solidFill>
                  <a:srgbClr val="EEF2F7"/>
                </a:solidFill>
                <a:latin typeface="Aptos"/>
              </a:rPr>
              <a:t>International Journal of Information and Computer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53712"/>
            <a:ext cx="10789920" cy="612648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90872"/>
            <a:ext cx="274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4297BE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681728"/>
            <a:ext cx="96012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1">
                <a:solidFill>
                  <a:srgbClr val="EEF2F7"/>
                </a:solidFill>
                <a:latin typeface="Aptos"/>
              </a:rPr>
              <a:t>International Journal of Computer Aided Engineering and Technology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440680"/>
            <a:ext cx="10789920" cy="658368"/>
          </a:xfrm>
          <a:prstGeom prst="rect">
            <a:avLst/>
          </a:prstGeom>
          <a:solidFill>
            <a:srgbClr val="1D232D"/>
          </a:solidFill>
          <a:ln w="12700">
            <a:solidFill>
              <a:srgbClr val="52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41848"/>
            <a:ext cx="103327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0">
                <a:solidFill>
                  <a:srgbClr val="A6B0BE"/>
                </a:solidFill>
                <a:latin typeface="Aptos"/>
              </a:rPr>
              <a:t>Candidate targets — final submission should follow each journal's current scope, article type and author guidelines.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547104"/>
            <a:ext cx="10972800" cy="14630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A6B0BE"/>
                </a:solidFill>
                <a:latin typeface="Aptos"/>
              </a:rPr>
              <a:t>TRACE  |  Post-Exploitation Research Framework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