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234440"/>
            <a:ext cx="5029200" cy="7772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4800" b="1">
                <a:solidFill>
                  <a:srgbClr val="F2F6FC"/>
                </a:solidFill>
                <a:latin typeface="Aptos"/>
              </a:rPr>
              <a:t>O-NYX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93392"/>
            <a:ext cx="8229600" cy="5029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2300" b="1">
                <a:solidFill>
                  <a:srgbClr val="32CDFF"/>
                </a:solidFill>
                <a:latin typeface="Aptos"/>
              </a:rPr>
              <a:t>Digital-Twin Malware Analysis &amp; Containment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7752"/>
            <a:ext cx="6858000" cy="41148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600" b="0">
                <a:solidFill>
                  <a:srgbClr val="A5B4C9"/>
                </a:solidFill>
                <a:latin typeface="Aptos"/>
              </a:rPr>
              <a:t>Pre-Exploitation + Mid-Exploitation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37560"/>
            <a:ext cx="10881360" cy="1325880"/>
          </a:xfrm>
          <a:prstGeom prst="roundRect">
            <a:avLst/>
          </a:prstGeom>
          <a:solidFill>
            <a:srgbClr val="253550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84448"/>
            <a:ext cx="137160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300" b="1">
                <a:solidFill>
                  <a:srgbClr val="32CDFF"/>
                </a:solidFill>
                <a:latin typeface="Aptos"/>
              </a:rPr>
              <a:t>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9966960" cy="53035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800" b="0">
                <a:solidFill>
                  <a:srgbClr val="F2F6FC"/>
                </a:solidFill>
                <a:latin typeface="Aptos"/>
              </a:rPr>
              <a:t>Intercept the suspicious object before it reaches the endpoint → analyse it inside a realistic digital twin → understand behaviour and intent → contain it before real-world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09728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800" b="0">
                <a:solidFill>
                  <a:srgbClr val="A5B4C9"/>
                </a:solidFill>
                <a:latin typeface="Aptos"/>
              </a:rPr>
              <a:t>O-NYX  |  Research Framework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2500" b="1">
                <a:solidFill>
                  <a:srgbClr val="F2F6FC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050" b="0">
                <a:solidFill>
                  <a:srgbClr val="A5B4C9"/>
                </a:solidFill>
                <a:latin typeface="Aptos"/>
              </a:rPr>
              <a:t>Why conventional file-based malware detection is insufficient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394960" cy="480060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01168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800" b="1">
                <a:solidFill>
                  <a:srgbClr val="FF5A6D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Malicious files can reach employees through email, web downloads, cloud storage and internal file shares.</a:t>
            </a:r>
          </a:p>
          <a:p>
            <a:pPr>
              <a:spcAft>
                <a:spcPts val="7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Static or signature-based checks may fail on new, obfuscated or sandbox-aware malware.</a:t>
            </a:r>
          </a:p>
          <a:p>
            <a:pPr>
              <a:spcAft>
                <a:spcPts val="7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A generic sandbox can be fingerprinted and cause malware to remain dormant, creating false negatives.</a:t>
            </a:r>
          </a:p>
          <a:p>
            <a:pPr>
              <a:spcAft>
                <a:spcPts val="7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Detection alone does not explain the attacker’s objective or potential path through the organisation.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94960" cy="480060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29768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800" b="1">
                <a:solidFill>
                  <a:srgbClr val="32CDFF"/>
                </a:solidFill>
                <a:latin typeface="Aptos"/>
              </a:rPr>
              <a:t>Research gap addressed by O-NYX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Move the security decision upstream: intercept before the real endpoint sees the object.</a:t>
            </a:r>
          </a:p>
          <a:p>
            <a:pPr>
              <a:spcAft>
                <a:spcPts val="7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Use AI pre-screening to decide whether deeper analysis is necessary.</a:t>
            </a:r>
          </a:p>
          <a:p>
            <a:pPr>
              <a:spcAft>
                <a:spcPts val="7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Detonate ambiguous files in a realistic organisational digital twin rather than a blank VM.</a:t>
            </a:r>
          </a:p>
          <a:p>
            <a:pPr>
              <a:spcAft>
                <a:spcPts val="7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Observe behaviour, infer intent, map ATT&amp;CK techniques and estimate blast radius.</a:t>
            </a:r>
          </a:p>
          <a:p>
            <a:pPr>
              <a:spcAft>
                <a:spcPts val="7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Return a containment decision without exposing the real network to the malware.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109728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800" b="0">
                <a:solidFill>
                  <a:srgbClr val="A5B4C9"/>
                </a:solidFill>
                <a:latin typeface="Aptos"/>
              </a:rPr>
              <a:t>O-NYX  |  Research Framework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2500" b="1">
                <a:solidFill>
                  <a:srgbClr val="F2F6FC"/>
                </a:solidFill>
                <a:latin typeface="Aptos"/>
              </a:rPr>
              <a:t>2. Block Diagram — Main O-NYX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050" b="0">
                <a:solidFill>
                  <a:srgbClr val="A5B4C9"/>
                </a:solidFill>
                <a:latin typeface="Aptos"/>
              </a:rPr>
              <a:t>Source: main_pipeline.drawio • full pre-exploitation → mid-exploitation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1463040" cy="68580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1261872"/>
            <a:ext cx="1371600" cy="63093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Employee endpoint
Attempts to download
unrecognised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1143000"/>
            <a:ext cx="1920240" cy="86868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32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170432"/>
            <a:ext cx="1828800" cy="813815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50" b="1">
                <a:solidFill>
                  <a:srgbClr val="F2F6FC"/>
                </a:solidFill>
                <a:latin typeface="Aptos"/>
              </a:rPr>
              <a:t>Smart interception layer
Proxy / DNS intercept
Domain reputation · user risk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43000"/>
            <a:ext cx="2057400" cy="86868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170432"/>
            <a:ext cx="1965960" cy="813815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50" b="1">
                <a:solidFill>
                  <a:srgbClr val="F2F6FC"/>
                </a:solidFill>
                <a:latin typeface="Aptos"/>
              </a:rPr>
              <a:t>AI pre-screening engine
File hash · YARA · ML · phishing URL check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1572768"/>
            <a:ext cx="274320" cy="0"/>
          </a:xfrm>
          <a:prstGeom prst="line">
            <a:avLst/>
          </a:prstGeom>
          <a:ln w="2159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77639" y="1572768"/>
            <a:ext cx="320041" cy="0"/>
          </a:xfrm>
          <a:prstGeom prst="line">
            <a:avLst/>
          </a:prstGeom>
          <a:ln w="2159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20840" y="1051560"/>
            <a:ext cx="1143000" cy="5943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5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1078992"/>
            <a:ext cx="1051560" cy="53949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Block + 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828800"/>
            <a:ext cx="1143000" cy="5943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1856231"/>
            <a:ext cx="1051560" cy="53949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Deep sandbox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606040"/>
            <a:ext cx="1143000" cy="5943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59" y="2633472"/>
            <a:ext cx="1051560" cy="53949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Pass through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355080" y="1353312"/>
            <a:ext cx="365760" cy="219456"/>
          </a:xfrm>
          <a:prstGeom prst="line">
            <a:avLst/>
          </a:prstGeom>
          <a:ln w="21590">
            <a:solidFill>
              <a:srgbClr val="FF5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55080" y="1572768"/>
            <a:ext cx="365760" cy="548640"/>
          </a:xfrm>
          <a:prstGeom prst="line">
            <a:avLst/>
          </a:prstGeom>
          <a:ln w="21590">
            <a:solidFill>
              <a:srgbClr val="FFA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55080" y="1572768"/>
            <a:ext cx="365760" cy="1325880"/>
          </a:xfrm>
          <a:prstGeom prst="line">
            <a:avLst/>
          </a:prstGeom>
          <a:ln w="21590">
            <a:solidFill>
              <a:srgbClr val="47D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83879" y="960120"/>
            <a:ext cx="3611880" cy="2743200"/>
          </a:xfrm>
          <a:prstGeom prst="roundRect">
            <a:avLst/>
          </a:prstGeom>
          <a:solidFill>
            <a:srgbClr val="0B131E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097280"/>
            <a:ext cx="315468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300" b="1">
                <a:solidFill>
                  <a:srgbClr val="FFAE49"/>
                </a:solidFill>
                <a:latin typeface="Aptos"/>
              </a:rPr>
              <a:t>ISOLATED CLOUD SANDBOX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1554480"/>
            <a:ext cx="1508760" cy="65836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581912"/>
            <a:ext cx="1417319" cy="603503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Static analysis
PE headers · macros · entropy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1554480"/>
            <a:ext cx="1508760" cy="65836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581912"/>
            <a:ext cx="1417319" cy="603503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Dynamic detonation
Execute · watch behaviour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2331720"/>
            <a:ext cx="1508760" cy="65836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359151"/>
            <a:ext cx="1417319" cy="603503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Content disarm (CDR)
Strip macros · rebuild clean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331720"/>
            <a:ext cx="1508760" cy="65836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2359151"/>
            <a:ext cx="1417319" cy="603503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Honeypot observer
Fake DNS · C2 beacon capture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108960"/>
            <a:ext cx="1508760" cy="65836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136391"/>
            <a:ext cx="1417319" cy="603503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Behavioural scoring
Risk score 0–100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3108960"/>
            <a:ext cx="1508760" cy="65836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3136391"/>
            <a:ext cx="1417319" cy="603503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Ransomware time machine
Snapshots · rollback if encryption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4251960"/>
            <a:ext cx="2331720" cy="73152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279392"/>
            <a:ext cx="2240279" cy="67665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19" b="1">
                <a:solidFill>
                  <a:srgbClr val="F2F6FC"/>
                </a:solidFill>
                <a:latin typeface="Aptos"/>
              </a:rPr>
              <a:t>Attacker intent prediction
Financial extortion · credential theft · persistence · resource abuse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4251960"/>
            <a:ext cx="2331720" cy="73152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32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4279392"/>
            <a:ext cx="2240279" cy="67665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19" b="1">
                <a:solidFill>
                  <a:srgbClr val="F2F6FC"/>
                </a:solidFill>
                <a:latin typeface="Aptos"/>
              </a:rPr>
              <a:t>Trust score engine (0–100)
Domain rep · publisher · AI behaviour · community · internal history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0" y="4251960"/>
            <a:ext cx="1874519" cy="73152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4279392"/>
            <a:ext cx="1783079" cy="67665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19" b="1">
                <a:solidFill>
                  <a:srgbClr val="F2F6FC"/>
                </a:solidFill>
                <a:latin typeface="Aptos"/>
              </a:rPr>
              <a:t>Policy + decision engine
Score threshold · role · file type · org policy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217920" y="3566160"/>
            <a:ext cx="1645920" cy="685800"/>
          </a:xfrm>
          <a:prstGeom prst="line">
            <a:avLst/>
          </a:prstGeom>
          <a:ln w="21590">
            <a:solidFill>
              <a:srgbClr val="9D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58000" y="4617720"/>
            <a:ext cx="274320" cy="0"/>
          </a:xfrm>
          <a:prstGeom prst="line">
            <a:avLst/>
          </a:prstGeom>
          <a:ln w="21590">
            <a:solidFill>
              <a:srgbClr val="32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464040" y="4617720"/>
            <a:ext cx="274320" cy="0"/>
          </a:xfrm>
          <a:prstGeom prst="line">
            <a:avLst/>
          </a:prstGeom>
          <a:ln w="21590">
            <a:solidFill>
              <a:srgbClr val="58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629400" y="5349240"/>
            <a:ext cx="1645920" cy="65836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5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5376672"/>
            <a:ext cx="1554480" cy="603503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19" b="1">
                <a:solidFill>
                  <a:srgbClr val="F2F6FC"/>
                </a:solidFill>
                <a:latin typeface="Aptos"/>
              </a:rPr>
              <a:t>Block + IT alert
Threat intel extracted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32520" y="5349240"/>
            <a:ext cx="2286000" cy="65836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5376672"/>
            <a:ext cx="2194560" cy="603503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80" b="1">
                <a:solidFill>
                  <a:srgbClr val="F2F6FC"/>
                </a:solidFill>
                <a:latin typeface="Aptos"/>
              </a:rPr>
              <a:t>Secure delivery
CDR-cleaned · pre-signed URL · read-only viewer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7452360" y="4983480"/>
            <a:ext cx="3227832" cy="365760"/>
          </a:xfrm>
          <a:prstGeom prst="line">
            <a:avLst/>
          </a:prstGeom>
          <a:ln w="21590">
            <a:solidFill>
              <a:srgbClr val="FF5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875520" y="4983480"/>
            <a:ext cx="804672" cy="365760"/>
          </a:xfrm>
          <a:prstGeom prst="line">
            <a:avLst/>
          </a:prstGeom>
          <a:ln w="21590">
            <a:solidFill>
              <a:srgbClr val="47D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788920" y="5715000"/>
            <a:ext cx="2743200" cy="50292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32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39" y="5742432"/>
            <a:ext cx="2651760" cy="44805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80" b="1">
                <a:solidFill>
                  <a:srgbClr val="F2F6FC"/>
                </a:solidFill>
                <a:latin typeface="Aptos"/>
              </a:rPr>
              <a:t>Org-wide immune system
IOC: hashes + domains + behaviours shared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06440" y="5715000"/>
            <a:ext cx="2377440" cy="50292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59" y="5742432"/>
            <a:ext cx="2286000" cy="44805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80" b="1">
                <a:solidFill>
                  <a:srgbClr val="F2F6FC"/>
                </a:solidFill>
                <a:latin typeface="Aptos"/>
              </a:rPr>
              <a:t>All verdicts logged to SIEM
SOC dashboard updated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528816"/>
            <a:ext cx="109728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800" b="0">
                <a:solidFill>
                  <a:srgbClr val="A5B4C9"/>
                </a:solidFill>
                <a:latin typeface="Aptos"/>
              </a:rPr>
              <a:t>O-NYX  |  Research Framework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2500" b="1">
                <a:solidFill>
                  <a:srgbClr val="F2F6FC"/>
                </a:solidFill>
                <a:latin typeface="Aptos"/>
              </a:rPr>
              <a:t>3. Block Diagram — Digital Twin Inside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050" b="0">
                <a:solidFill>
                  <a:srgbClr val="A5B4C9"/>
                </a:solidFill>
                <a:latin typeface="Aptos"/>
              </a:rPr>
              <a:t>Source: digital twin inside sandbox.drawio • realistic simulated organisation + observation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2148840" cy="64008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5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2057400" cy="585215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30" b="1">
                <a:solidFill>
                  <a:srgbClr val="F2F6FC"/>
                </a:solidFill>
                <a:latin typeface="Aptos"/>
              </a:rPr>
              <a:t>Malicious file intercepted
Passed by AI pre-screener for deep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685800"/>
            <a:ext cx="8915400" cy="4480560"/>
          </a:xfrm>
          <a:prstGeom prst="roundRect">
            <a:avLst/>
          </a:prstGeom>
          <a:solidFill>
            <a:srgbClr val="0B131E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841248"/>
            <a:ext cx="8366760" cy="292608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150" b="1">
                <a:solidFill>
                  <a:srgbClr val="FFAE49"/>
                </a:solidFill>
                <a:latin typeface="Aptos"/>
              </a:rPr>
              <a:t>ISOLATED CLOUD SANDBOX  •  separate VPC  •  ephemeral  •  no real network route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325880"/>
            <a:ext cx="5760720" cy="2148840"/>
          </a:xfrm>
          <a:prstGeom prst="roundRect">
            <a:avLst/>
          </a:prstGeom>
          <a:solidFill>
            <a:srgbClr val="111C2B"/>
          </a:solidFill>
          <a:ln w="12700">
            <a:solidFill>
              <a:srgbClr val="32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463040"/>
            <a:ext cx="5394960" cy="25603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150" b="1">
                <a:solidFill>
                  <a:srgbClr val="32CDFF"/>
                </a:solidFill>
                <a:latin typeface="Aptos"/>
              </a:rPr>
              <a:t>DIGITAL TWIN — replica of organisation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828800"/>
            <a:ext cx="114300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856231"/>
            <a:ext cx="105156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80" b="1">
                <a:solidFill>
                  <a:srgbClr val="F2F6FC"/>
                </a:solidFill>
                <a:latin typeface="Aptos"/>
              </a:rPr>
              <a:t>Domain controller
Fake AD · users · GPO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828800"/>
            <a:ext cx="114300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56231"/>
            <a:ext cx="105156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80" b="1">
                <a:solidFill>
                  <a:srgbClr val="F2F6FC"/>
                </a:solidFill>
                <a:latin typeface="Aptos"/>
              </a:rPr>
              <a:t>File server
Fake shares ·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828800"/>
            <a:ext cx="114300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856231"/>
            <a:ext cx="105156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80" b="1">
                <a:solidFill>
                  <a:srgbClr val="F2F6FC"/>
                </a:solidFill>
                <a:latin typeface="Aptos"/>
              </a:rPr>
              <a:t>Email server
Fake SMTP · inbox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828800"/>
            <a:ext cx="114300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856231"/>
            <a:ext cx="105156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80" b="1">
                <a:solidFill>
                  <a:srgbClr val="F2F6FC"/>
                </a:solidFill>
                <a:latin typeface="Aptos"/>
              </a:rPr>
              <a:t>Web proxy
Fake internet · DNS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2697480"/>
            <a:ext cx="114300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59" y="2724912"/>
            <a:ext cx="105156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80" b="1">
                <a:solidFill>
                  <a:srgbClr val="F2F6FC"/>
                </a:solidFill>
                <a:latin typeface="Aptos"/>
              </a:rPr>
              <a:t>HR laptop
Fake user 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697480"/>
            <a:ext cx="114300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724912"/>
            <a:ext cx="105156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80" b="1">
                <a:solidFill>
                  <a:srgbClr val="F2F6FC"/>
                </a:solidFill>
                <a:latin typeface="Aptos"/>
              </a:rPr>
              <a:t>Finance PC
Fake credentials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697480"/>
            <a:ext cx="114300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724912"/>
            <a:ext cx="105156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80" b="1">
                <a:solidFill>
                  <a:srgbClr val="F2F6FC"/>
                </a:solidFill>
                <a:latin typeface="Aptos"/>
              </a:rPr>
              <a:t>Detonation point
Malware executes 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697480"/>
            <a:ext cx="114300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2724912"/>
            <a:ext cx="105156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80" b="1">
                <a:solidFill>
                  <a:srgbClr val="F2F6FC"/>
                </a:solidFill>
                <a:latin typeface="Aptos"/>
              </a:rPr>
              <a:t>Database
Fake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3310128"/>
            <a:ext cx="114300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3337560"/>
            <a:ext cx="105156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80" b="1">
                <a:solidFill>
                  <a:srgbClr val="F2F6FC"/>
                </a:solidFill>
                <a:latin typeface="Aptos"/>
              </a:rPr>
              <a:t>Backup srv
Fake snapshots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1325880"/>
            <a:ext cx="2331720" cy="2148840"/>
          </a:xfrm>
          <a:prstGeom prst="roundRect">
            <a:avLst/>
          </a:prstGeom>
          <a:solidFill>
            <a:srgbClr val="111C2B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1463040"/>
            <a:ext cx="1920240" cy="25603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050" b="1">
                <a:solidFill>
                  <a:srgbClr val="9D70FF"/>
                </a:solidFill>
                <a:latin typeface="Aptos"/>
              </a:rPr>
              <a:t>OBSERVATION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1810512"/>
            <a:ext cx="96012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837943"/>
            <a:ext cx="86868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50" b="1">
                <a:solidFill>
                  <a:srgbClr val="F2F6FC"/>
                </a:solidFill>
                <a:latin typeface="Aptos"/>
              </a:rPr>
              <a:t>Network tap
All traffic logged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14432" y="1810512"/>
            <a:ext cx="96012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0152" y="1837943"/>
            <a:ext cx="86868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50" b="1">
                <a:solidFill>
                  <a:srgbClr val="F2F6FC"/>
                </a:solidFill>
                <a:latin typeface="Aptos"/>
              </a:rPr>
              <a:t>Process tracer
Spawn tree captured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2615184"/>
            <a:ext cx="96012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2642615"/>
            <a:ext cx="86868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50" b="1">
                <a:solidFill>
                  <a:srgbClr val="F2F6FC"/>
                </a:solidFill>
                <a:latin typeface="Aptos"/>
              </a:rPr>
              <a:t>File monitor
Every write tracked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14432" y="2615184"/>
            <a:ext cx="96012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60152" y="2642615"/>
            <a:ext cx="86868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50" b="1">
                <a:solidFill>
                  <a:srgbClr val="F2F6FC"/>
                </a:solidFill>
                <a:latin typeface="Aptos"/>
              </a:rPr>
              <a:t>C2 honeypot
Beacon captured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08960" y="3794760"/>
            <a:ext cx="3154680" cy="73152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4679" y="3822192"/>
            <a:ext cx="3063240" cy="67665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Lateral movement mapper
Which fake nodes did malware touch? In what order? What path would it take in the real network?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3794760"/>
            <a:ext cx="3063240" cy="73152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822192"/>
            <a:ext cx="2971800" cy="67665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Behavioural profile generated
Encryption · credential dump · C2 · lateral move · privilege escalation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9800" y="3794760"/>
            <a:ext cx="1143000" cy="73152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3822192"/>
            <a:ext cx="1051560" cy="67665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Exits sandbox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560320" y="1280160"/>
            <a:ext cx="228600" cy="0"/>
          </a:xfrm>
          <a:prstGeom prst="line">
            <a:avLst/>
          </a:prstGeom>
          <a:ln w="21590">
            <a:solidFill>
              <a:srgbClr val="FF5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263640" y="4160520"/>
            <a:ext cx="182880" cy="0"/>
          </a:xfrm>
          <a:prstGeom prst="line">
            <a:avLst/>
          </a:prstGeom>
          <a:ln w="21590">
            <a:solidFill>
              <a:srgbClr val="FFA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509760" y="4160520"/>
            <a:ext cx="320040" cy="0"/>
          </a:xfrm>
          <a:prstGeom prst="line">
            <a:avLst/>
          </a:prstGeom>
          <a:ln w="21590">
            <a:solidFill>
              <a:srgbClr val="9D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749039" y="5440680"/>
            <a:ext cx="274320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5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94759" y="5468112"/>
            <a:ext cx="265176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80" b="1">
                <a:solidFill>
                  <a:srgbClr val="F2F6FC"/>
                </a:solidFill>
                <a:latin typeface="Aptos"/>
              </a:rPr>
              <a:t>Threat classification engine
Ransomware · botnet · worm · RAT · trojan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12280" y="5440680"/>
            <a:ext cx="246888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5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5468112"/>
            <a:ext cx="237744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80" b="1">
                <a:solidFill>
                  <a:srgbClr val="F2F6FC"/>
                </a:solidFill>
                <a:latin typeface="Aptos"/>
              </a:rPr>
              <a:t>Block + type-specific response
Adaptive containment triggered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55480" y="5440680"/>
            <a:ext cx="214884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32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5468112"/>
            <a:ext cx="205740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80" b="1">
                <a:solidFill>
                  <a:srgbClr val="F2F6FC"/>
                </a:solidFill>
                <a:latin typeface="Aptos"/>
              </a:rPr>
              <a:t>Blast radius map generated
Real network paths predicted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5120640" y="4526280"/>
            <a:ext cx="5257800" cy="914400"/>
          </a:xfrm>
          <a:prstGeom prst="line">
            <a:avLst/>
          </a:prstGeom>
          <a:ln w="21590">
            <a:solidFill>
              <a:srgbClr val="FF5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492240" y="5751576"/>
            <a:ext cx="320040" cy="0"/>
          </a:xfrm>
          <a:prstGeom prst="line">
            <a:avLst/>
          </a:prstGeom>
          <a:ln w="21590">
            <a:solidFill>
              <a:srgbClr val="FF5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81160" y="5751576"/>
            <a:ext cx="274320" cy="0"/>
          </a:xfrm>
          <a:prstGeom prst="line">
            <a:avLst/>
          </a:prstGeom>
          <a:ln w="21590">
            <a:solidFill>
              <a:srgbClr val="32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200" y="6528816"/>
            <a:ext cx="109728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800" b="0">
                <a:solidFill>
                  <a:srgbClr val="A5B4C9"/>
                </a:solidFill>
                <a:latin typeface="Aptos"/>
              </a:rPr>
              <a:t>O-NYX  |  Research Framework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2500" b="1">
                <a:solidFill>
                  <a:srgbClr val="F2F6FC"/>
                </a:solidFill>
                <a:latin typeface="Aptos"/>
              </a:rPr>
              <a:t>4. Block Diagram — Covert AI Agent Inside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050" b="0">
                <a:solidFill>
                  <a:srgbClr val="A5B4C9"/>
                </a:solidFill>
                <a:latin typeface="Aptos"/>
              </a:rPr>
              <a:t>Source: covert ai agent inside sandbox.drawio • behaviour → intent → ATT&amp;CK → risk → SOC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77240"/>
            <a:ext cx="2423160" cy="71323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5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2331720" cy="65836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00" b="1">
                <a:solidFill>
                  <a:srgbClr val="F2F6FC"/>
                </a:solidFill>
                <a:latin typeface="Aptos"/>
              </a:rPr>
              <a:t>Malware enters digital twin — fully activated
Believes it is inside a real organisation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502920"/>
            <a:ext cx="3931920" cy="4434840"/>
          </a:xfrm>
          <a:prstGeom prst="roundRect">
            <a:avLst/>
          </a:prstGeom>
          <a:solidFill>
            <a:srgbClr val="0B131E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713232"/>
            <a:ext cx="338328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300" b="1">
                <a:solidFill>
                  <a:srgbClr val="FFAE49"/>
                </a:solidFill>
                <a:latin typeface="Aptos"/>
              </a:rPr>
              <a:t>DIGITAL TWIN SANDBOX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34440"/>
            <a:ext cx="3383280" cy="2057400"/>
          </a:xfrm>
          <a:prstGeom prst="roundRect">
            <a:avLst/>
          </a:prstGeom>
          <a:solidFill>
            <a:srgbClr val="111C2B"/>
          </a:solidFill>
          <a:ln w="12700">
            <a:solidFill>
              <a:srgbClr val="32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389888"/>
            <a:ext cx="3017520" cy="22860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050" b="1">
                <a:solidFill>
                  <a:srgbClr val="32CDFF"/>
                </a:solidFill>
                <a:latin typeface="Aptos"/>
              </a:rPr>
              <a:t>FAKE ORGANISATION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737360"/>
            <a:ext cx="100584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64792"/>
            <a:ext cx="91440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60" b="1">
                <a:solidFill>
                  <a:srgbClr val="F2F6FC"/>
                </a:solidFill>
                <a:latin typeface="Aptos"/>
              </a:rPr>
              <a:t>Domain controller
Fake AD · 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737360"/>
            <a:ext cx="100584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64792"/>
            <a:ext cx="91440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60" b="1">
                <a:solidFill>
                  <a:srgbClr val="F2F6FC"/>
                </a:solidFill>
                <a:latin typeface="Aptos"/>
              </a:rPr>
              <a:t>File server
Fake shares ·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737360"/>
            <a:ext cx="100584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764792"/>
            <a:ext cx="91440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60" b="1">
                <a:solidFill>
                  <a:srgbClr val="F2F6FC"/>
                </a:solidFill>
                <a:latin typeface="Aptos"/>
              </a:rPr>
              <a:t>Detonation point
Malware runs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2514600"/>
            <a:ext cx="100584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59" y="2542032"/>
            <a:ext cx="91440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60" b="1">
                <a:solidFill>
                  <a:srgbClr val="F2F6FC"/>
                </a:solidFill>
                <a:latin typeface="Aptos"/>
              </a:rPr>
              <a:t>Database
Fake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514600"/>
            <a:ext cx="100584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542032"/>
            <a:ext cx="91440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60" b="1">
                <a:solidFill>
                  <a:srgbClr val="F2F6FC"/>
                </a:solidFill>
                <a:latin typeface="Aptos"/>
              </a:rPr>
              <a:t>HR laptop
Fake user 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514600"/>
            <a:ext cx="100584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42032"/>
            <a:ext cx="91440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60" b="1">
                <a:solidFill>
                  <a:srgbClr val="F2F6FC"/>
                </a:solidFill>
                <a:latin typeface="Aptos"/>
              </a:rPr>
              <a:t>Finance PC
Fake credentials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246120"/>
            <a:ext cx="1005840" cy="56692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3273551"/>
            <a:ext cx="914400" cy="51206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60" b="1">
                <a:solidFill>
                  <a:srgbClr val="F2F6FC"/>
                </a:solidFill>
                <a:latin typeface="Aptos"/>
              </a:rPr>
              <a:t>Backup server
Fake snapshots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502920"/>
            <a:ext cx="2286000" cy="4434840"/>
          </a:xfrm>
          <a:prstGeom prst="roundRect">
            <a:avLst/>
          </a:prstGeom>
          <a:solidFill>
            <a:srgbClr val="111C2B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713232"/>
            <a:ext cx="192024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200" b="1">
                <a:solidFill>
                  <a:srgbClr val="9D70FF"/>
                </a:solidFill>
                <a:latin typeface="Aptos"/>
              </a:rPr>
              <a:t>COVERT AI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1325880"/>
            <a:ext cx="192024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1353312"/>
            <a:ext cx="182880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30" b="1">
                <a:solidFill>
                  <a:srgbClr val="F2F6FC"/>
                </a:solidFill>
                <a:latin typeface="Aptos"/>
              </a:rPr>
              <a:t>Behaviour watcher
Every process · call · move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2148840"/>
            <a:ext cx="192024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176272"/>
            <a:ext cx="182880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30" b="1">
                <a:solidFill>
                  <a:srgbClr val="F2F6FC"/>
                </a:solidFill>
                <a:latin typeface="Aptos"/>
              </a:rPr>
              <a:t>Intent classifier
What is it trying to do?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2971800"/>
            <a:ext cx="192024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2999232"/>
            <a:ext cx="182880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30" b="1">
                <a:solidFill>
                  <a:srgbClr val="F2F6FC"/>
                </a:solidFill>
                <a:latin typeface="Aptos"/>
              </a:rPr>
              <a:t>ATT&amp;CK mapper
Tag each technique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3794760"/>
            <a:ext cx="1920240" cy="6217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3822192"/>
            <a:ext cx="1828800" cy="56692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30" b="1">
                <a:solidFill>
                  <a:srgbClr val="F2F6FC"/>
                </a:solidFill>
                <a:latin typeface="Aptos"/>
              </a:rPr>
              <a:t>Risk scorer
Escalation level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95160" y="2560320"/>
            <a:ext cx="365760" cy="0"/>
          </a:xfrm>
          <a:prstGeom prst="line">
            <a:avLst/>
          </a:prstGeom>
          <a:ln w="21590">
            <a:solidFill>
              <a:srgbClr val="9D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21240" y="731520"/>
            <a:ext cx="1828800" cy="71323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32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758952"/>
            <a:ext cx="1737360" cy="65836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AI report generator
Plain-language brief assembled in real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1691640"/>
            <a:ext cx="1828800" cy="53035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0" y="1719072"/>
            <a:ext cx="1737360" cy="47548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60" b="1">
                <a:solidFill>
                  <a:srgbClr val="F2F6FC"/>
                </a:solidFill>
                <a:latin typeface="Aptos"/>
              </a:rPr>
              <a:t>Exits sandbox silently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40" y="2468880"/>
            <a:ext cx="1828800" cy="71323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5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2496312"/>
            <a:ext cx="1737360" cy="658368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20" b="1">
                <a:solidFill>
                  <a:srgbClr val="F2F6FC"/>
                </a:solidFill>
                <a:latin typeface="Aptos"/>
              </a:rPr>
              <a:t>Real-time SOC alert stream
Continuous updates every few seconds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63240" y="5166360"/>
            <a:ext cx="8686800" cy="1097280"/>
          </a:xfrm>
          <a:prstGeom prst="roundRect">
            <a:avLst/>
          </a:prstGeom>
          <a:solidFill>
            <a:srgbClr val="0E1624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5321808"/>
            <a:ext cx="2286000" cy="22860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050" b="1">
                <a:solidFill>
                  <a:srgbClr val="5891FF"/>
                </a:solidFill>
                <a:latin typeface="Aptos"/>
              </a:rPr>
              <a:t>SOC ANALYST DASHBOARD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0" y="5285232"/>
            <a:ext cx="1280160" cy="5943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5312664"/>
            <a:ext cx="1188719" cy="53949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50" b="1">
                <a:solidFill>
                  <a:srgbClr val="F2F6FC"/>
                </a:solidFill>
                <a:latin typeface="Aptos"/>
              </a:rPr>
              <a:t>Live attack timeline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95160" y="5285232"/>
            <a:ext cx="1280160" cy="5943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5312664"/>
            <a:ext cx="1188719" cy="53949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50" b="1">
                <a:solidFill>
                  <a:srgbClr val="F2F6FC"/>
                </a:solidFill>
                <a:latin typeface="Aptos"/>
              </a:rPr>
              <a:t>Threat assessment card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49640" y="5285232"/>
            <a:ext cx="1280160" cy="5943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5312664"/>
            <a:ext cx="1188719" cy="53949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50" b="1">
                <a:solidFill>
                  <a:srgbClr val="F2F6FC"/>
                </a:solidFill>
                <a:latin typeface="Aptos"/>
              </a:rPr>
              <a:t>MITRE ATT&amp;CK live map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04120" y="5285232"/>
            <a:ext cx="1280160" cy="5943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49840" y="5312664"/>
            <a:ext cx="1188719" cy="53949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650" b="1">
                <a:solidFill>
                  <a:srgbClr val="F2F6FC"/>
                </a:solidFill>
                <a:latin typeface="Aptos"/>
              </a:rPr>
              <a:t>Recommended actions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6355080"/>
            <a:ext cx="8138160" cy="25603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19" b="0">
                <a:solidFill>
                  <a:srgbClr val="A5B4C9"/>
                </a:solidFill>
                <a:latin typeface="Aptos"/>
              </a:rPr>
              <a:t>Full forensic report auto-generated on completion: executive summary · technical detail · IOCs · policy recommendations · community alert draft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28816"/>
            <a:ext cx="109728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800" b="0">
                <a:solidFill>
                  <a:srgbClr val="A5B4C9"/>
                </a:solidFill>
                <a:latin typeface="Aptos"/>
              </a:rPr>
              <a:t>O-NYX  |  Research Framework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2500" b="1">
                <a:solidFill>
                  <a:srgbClr val="F2F6FC"/>
                </a:solidFill>
                <a:latin typeface="Aptos"/>
              </a:rPr>
              <a:t>5. Block Diagram — Malware Classification &amp; Type-Specific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050" b="0">
                <a:solidFill>
                  <a:srgbClr val="A5B4C9"/>
                </a:solidFill>
                <a:latin typeface="Aptos"/>
              </a:rPr>
              <a:t>Source: malware_classification.drawio • behavioural profile + YARA + ML → type →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685800"/>
            <a:ext cx="2743200" cy="8229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5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2651760" cy="768096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50" b="1">
                <a:solidFill>
                  <a:srgbClr val="F2F6FC"/>
                </a:solidFill>
                <a:latin typeface="Aptos"/>
              </a:rPr>
              <a:t>Threat classification engine
Behavioural profile matching · YARA · ML model output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1097280"/>
            <a:ext cx="502920" cy="0"/>
          </a:xfrm>
          <a:prstGeom prst="line">
            <a:avLst/>
          </a:prstGeom>
          <a:ln w="2159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685800"/>
            <a:ext cx="2240280" cy="1691640"/>
          </a:xfrm>
          <a:prstGeom prst="roundRect">
            <a:avLst/>
          </a:prstGeom>
          <a:solidFill>
            <a:srgbClr val="FF5A6D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795528"/>
            <a:ext cx="2093976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200" b="1">
                <a:solidFill>
                  <a:srgbClr val="FF5A6D"/>
                </a:solidFill>
                <a:latin typeface="Aptos"/>
              </a:rPr>
              <a:t>Ransomware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143000"/>
            <a:ext cx="20574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00" b="1">
                <a:solidFill>
                  <a:srgbClr val="A5B4C9"/>
                </a:solidFill>
                <a:latin typeface="Aptos"/>
              </a:rPr>
              <a:t>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44168"/>
            <a:ext cx="2057400" cy="621792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10" b="0">
                <a:solidFill>
                  <a:srgbClr val="F2F6FC"/>
                </a:solidFill>
                <a:latin typeface="Aptos"/>
              </a:rPr>
              <a:t>Mass file changes · encryption · shadow copy delete · backup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93391"/>
            <a:ext cx="20574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00" b="1">
                <a:solidFill>
                  <a:srgbClr val="A5B4C9"/>
                </a:solidFill>
                <a:latin typeface="Aptos"/>
              </a:rPr>
              <a:t>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57984"/>
            <a:ext cx="2057400" cy="18288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650" b="0">
                <a:solidFill>
                  <a:srgbClr val="F2F6FC"/>
                </a:solidFill>
                <a:latin typeface="Aptos"/>
              </a:rPr>
              <a:t>Isolate endpoint · kill process · lock shares · protect backups · rollback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685800"/>
            <a:ext cx="2240280" cy="1691640"/>
          </a:xfrm>
          <a:prstGeom prst="roundRect">
            <a:avLst/>
          </a:prstGeom>
          <a:solidFill>
            <a:srgbClr val="9D70FF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795528"/>
            <a:ext cx="2093976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200" b="1">
                <a:solidFill>
                  <a:srgbClr val="9D70FF"/>
                </a:solidFill>
                <a:latin typeface="Aptos"/>
              </a:rPr>
              <a:t>Botnet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143000"/>
            <a:ext cx="20574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00" b="1">
                <a:solidFill>
                  <a:srgbClr val="A5B4C9"/>
                </a:solidFill>
                <a:latin typeface="Aptos"/>
              </a:rPr>
              <a:t>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344168"/>
            <a:ext cx="2057400" cy="621792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10" b="0">
                <a:solidFill>
                  <a:srgbClr val="F2F6FC"/>
                </a:solidFill>
                <a:latin typeface="Aptos"/>
              </a:rPr>
              <a:t>Periodic beaconing · C2 DNS · outbound patterns · DDoS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93391"/>
            <a:ext cx="20574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00" b="1">
                <a:solidFill>
                  <a:srgbClr val="A5B4C9"/>
                </a:solidFill>
                <a:latin typeface="Aptos"/>
              </a:rPr>
              <a:t>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57984"/>
            <a:ext cx="2057400" cy="18288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650" b="0">
                <a:solidFill>
                  <a:srgbClr val="F2F6FC"/>
                </a:solidFill>
                <a:latin typeface="Aptos"/>
              </a:rPr>
              <a:t>Block C2 domains/IPs · sinkhole · disconnect · firewall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685800"/>
            <a:ext cx="2240280" cy="1691640"/>
          </a:xfrm>
          <a:prstGeom prst="roundRect">
            <a:avLst/>
          </a:prstGeom>
          <a:solidFill>
            <a:srgbClr val="FFAE49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9952" y="795528"/>
            <a:ext cx="2093976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200" b="1">
                <a:solidFill>
                  <a:srgbClr val="FFAE49"/>
                </a:solidFill>
                <a:latin typeface="Aptos"/>
              </a:rPr>
              <a:t>Trojan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143000"/>
            <a:ext cx="20574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00" b="1">
                <a:solidFill>
                  <a:srgbClr val="A5B4C9"/>
                </a:solidFill>
                <a:latin typeface="Aptos"/>
              </a:rPr>
              <a:t>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344168"/>
            <a:ext cx="2057400" cy="621792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10" b="0">
                <a:solidFill>
                  <a:srgbClr val="F2F6FC"/>
                </a:solidFill>
                <a:latin typeface="Aptos"/>
              </a:rPr>
              <a:t>Payload download · privilege escalation · suspicious processes ·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993391"/>
            <a:ext cx="20574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00" b="1">
                <a:solidFill>
                  <a:srgbClr val="A5B4C9"/>
                </a:solidFill>
                <a:latin typeface="Aptos"/>
              </a:rPr>
              <a:t>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157984"/>
            <a:ext cx="2057400" cy="18288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650" b="0">
                <a:solidFill>
                  <a:srgbClr val="F2F6FC"/>
                </a:solidFill>
                <a:latin typeface="Aptos"/>
              </a:rPr>
              <a:t>Block execution · quarantine · kill process tree · remove persistence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2743200"/>
            <a:ext cx="2240280" cy="1691640"/>
          </a:xfrm>
          <a:prstGeom prst="roundRect">
            <a:avLst/>
          </a:prstGeom>
          <a:solidFill>
            <a:srgbClr val="32CDFF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0752" y="2852928"/>
            <a:ext cx="2093976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200" b="1">
                <a:solidFill>
                  <a:srgbClr val="32CDFF"/>
                </a:solidFill>
                <a:latin typeface="Aptos"/>
              </a:rPr>
              <a:t>Worm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200400"/>
            <a:ext cx="20574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00" b="1">
                <a:solidFill>
                  <a:srgbClr val="A5B4C9"/>
                </a:solidFill>
                <a:latin typeface="Aptos"/>
              </a:rPr>
              <a:t>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401568"/>
            <a:ext cx="2057400" cy="621792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10" b="0">
                <a:solidFill>
                  <a:srgbClr val="F2F6FC"/>
                </a:solidFill>
                <a:latin typeface="Aptos"/>
              </a:rPr>
              <a:t>SMB/port scanning · lateral movement · rapid propagation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050791"/>
            <a:ext cx="20574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00" b="1">
                <a:solidFill>
                  <a:srgbClr val="A5B4C9"/>
                </a:solidFill>
                <a:latin typeface="Aptos"/>
              </a:rPr>
              <a:t>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215384"/>
            <a:ext cx="2057400" cy="18288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650" b="0">
                <a:solidFill>
                  <a:srgbClr val="F2F6FC"/>
                </a:solidFill>
                <a:latin typeface="Aptos"/>
              </a:rPr>
              <a:t>Segment VLAN · block SMB · isolate devices · map blast radius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2743200"/>
            <a:ext cx="2240280" cy="1691640"/>
          </a:xfrm>
          <a:prstGeom prst="roundRect">
            <a:avLst/>
          </a:prstGeom>
          <a:solidFill>
            <a:srgbClr val="5891FF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2" y="2852928"/>
            <a:ext cx="2093976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200" b="1">
                <a:solidFill>
                  <a:srgbClr val="5891FF"/>
                </a:solidFill>
                <a:latin typeface="Aptos"/>
              </a:rPr>
              <a:t>RAT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200400"/>
            <a:ext cx="20574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00" b="1">
                <a:solidFill>
                  <a:srgbClr val="A5B4C9"/>
                </a:solidFill>
                <a:latin typeface="Aptos"/>
              </a:rPr>
              <a:t>Signals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401568"/>
            <a:ext cx="2057400" cy="621792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10" b="0">
                <a:solidFill>
                  <a:srgbClr val="F2F6FC"/>
                </a:solidFill>
                <a:latin typeface="Aptos"/>
              </a:rPr>
              <a:t>Outbound C2 · remote command · keylog/screen capture · persistence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050791"/>
            <a:ext cx="20574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800" b="1">
                <a:solidFill>
                  <a:srgbClr val="A5B4C9"/>
                </a:solidFill>
                <a:latin typeface="Aptos"/>
              </a:rPr>
              <a:t>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215384"/>
            <a:ext cx="2057400" cy="18288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650" b="0">
                <a:solidFill>
                  <a:srgbClr val="F2F6FC"/>
                </a:solidFill>
                <a:latin typeface="Aptos"/>
              </a:rPr>
              <a:t>Disconnect network · kill session · revoke creds · capture memory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0" y="2743200"/>
            <a:ext cx="2697480" cy="74980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32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2770632"/>
            <a:ext cx="2606040" cy="69494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780" b="1">
                <a:solidFill>
                  <a:srgbClr val="F2F6FC"/>
                </a:solidFill>
                <a:latin typeface="Aptos"/>
              </a:rPr>
              <a:t>Blast radius + infection spread map
Predicted path: Laptop → Finance server → DB → Backup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0" y="4800600"/>
            <a:ext cx="2743200" cy="74980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4828032"/>
            <a:ext cx="2651760" cy="69494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00" b="1">
                <a:solidFill>
                  <a:srgbClr val="F2F6FC"/>
                </a:solidFill>
                <a:latin typeface="Aptos"/>
              </a:rPr>
              <a:t>Suggested action panel
Human approves · one-click · not fully automated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800600"/>
            <a:ext cx="2743200" cy="749808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4828032"/>
            <a:ext cx="2651760" cy="694944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800" b="1">
                <a:solidFill>
                  <a:srgbClr val="F2F6FC"/>
                </a:solidFill>
                <a:latin typeface="Aptos"/>
              </a:rPr>
              <a:t>Plain-language threat explanation
Generated for employee + SOC team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00600" y="4434840"/>
            <a:ext cx="0" cy="365760"/>
          </a:xfrm>
          <a:prstGeom prst="line">
            <a:avLst/>
          </a:prstGeom>
          <a:ln w="21590">
            <a:solidFill>
              <a:srgbClr val="32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183879" y="4434840"/>
            <a:ext cx="1645921" cy="365760"/>
          </a:xfrm>
          <a:prstGeom prst="line">
            <a:avLst/>
          </a:prstGeom>
          <a:ln w="21590">
            <a:solidFill>
              <a:srgbClr val="58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57200" y="6528816"/>
            <a:ext cx="109728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800" b="0">
                <a:solidFill>
                  <a:srgbClr val="A5B4C9"/>
                </a:solidFill>
                <a:latin typeface="Aptos"/>
              </a:rPr>
              <a:t>O-NYX  |  Research Framework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11430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2F6FC"/>
                </a:solidFill>
                <a:latin typeface="Aptos"/>
              </a:rPr>
              <a:t>6. Full O-NYX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03504"/>
            <a:ext cx="112928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930" b="0">
                <a:solidFill>
                  <a:srgbClr val="A5B4C9"/>
                </a:solidFill>
                <a:latin typeface="Aptos"/>
              </a:rPr>
              <a:t>Master timeline: Stages 0–8 only — Entry + Pre-Exploitation + Mid-Exploitation. TRACE starts after this handoff.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14400"/>
            <a:ext cx="11475720" cy="274320"/>
          </a:xfrm>
          <a:prstGeom prst="roundRect">
            <a:avLst/>
          </a:prstGeom>
          <a:solidFill>
            <a:srgbClr val="FF5A6D"/>
          </a:solidFill>
          <a:ln w="12700">
            <a:solidFill>
              <a:srgbClr val="FF5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955547"/>
            <a:ext cx="11384280" cy="164592"/>
          </a:xfrm>
          <a:prstGeom prst="rect">
            <a:avLst/>
          </a:prstGeom>
          <a:noFill/>
        </p:spPr>
        <p:txBody>
          <a:bodyPr wrap="square" lIns="32004" rIns="32004" tIns="18288" bIns="18288" anchor="ctr">
            <a:spAutoFit/>
          </a:bodyPr>
          <a:lstStyle/>
          <a:p>
            <a:pPr algn="ctr"/>
            <a:r>
              <a:rPr sz="770" b="1">
                <a:solidFill>
                  <a:srgbClr val="F2F6FC"/>
                </a:solidFill>
                <a:latin typeface="Aptos"/>
              </a:rPr>
              <a:t>ENTRY / NETWORK GATEWAYS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43584"/>
            <a:ext cx="11475720" cy="123444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5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98448"/>
            <a:ext cx="11347704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FF5A6D"/>
                </a:solidFill>
                <a:latin typeface="Aptos"/>
              </a:rPr>
              <a:t>STAGE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499616"/>
            <a:ext cx="1132941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Network Gateways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65376"/>
            <a:ext cx="1129284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665" b="0">
                <a:solidFill>
                  <a:srgbClr val="A5B4C9"/>
                </a:solidFill>
                <a:latin typeface="Aptos"/>
              </a:rPr>
              <a:t>Email Gateway / MTA — attachments, links, sender identity
Web / Forward Proxy — downloads, uploads, HTTP/HTTPS
DNS Resolver — domain lookups before connection
CASB — SaaS file movement
Internal File-Share Filter — SMB/NFS lateral file movement
USB control — exception path needing lightweight endpoint device-control
All gateways forward to ONE centralized AI Pre-Screening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633472"/>
            <a:ext cx="11475720" cy="274320"/>
          </a:xfrm>
          <a:prstGeom prst="roundRect">
            <a:avLst/>
          </a:prstGeom>
          <a:solidFill>
            <a:srgbClr val="9D70FF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2674620"/>
            <a:ext cx="11384280" cy="164592"/>
          </a:xfrm>
          <a:prstGeom prst="rect">
            <a:avLst/>
          </a:prstGeom>
          <a:noFill/>
        </p:spPr>
        <p:txBody>
          <a:bodyPr wrap="square" lIns="32004" rIns="32004" tIns="18288" bIns="18288" anchor="ctr">
            <a:spAutoFit/>
          </a:bodyPr>
          <a:lstStyle/>
          <a:p>
            <a:pPr algn="ctr"/>
            <a:r>
              <a:rPr sz="770" b="1">
                <a:solidFill>
                  <a:srgbClr val="F2F6FC"/>
                </a:solidFill>
                <a:latin typeface="Aptos"/>
              </a:rPr>
              <a:t>PRE-EXPLOITATION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962656"/>
            <a:ext cx="2788920" cy="22219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017520"/>
            <a:ext cx="2660903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9D70FF"/>
                </a:solidFill>
                <a:latin typeface="Aptos"/>
              </a:rPr>
              <a:t>STAGE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3218688"/>
            <a:ext cx="2642615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Layer 1 — Fast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584448"/>
            <a:ext cx="2606039" cy="1517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625" b="0">
                <a:solidFill>
                  <a:srgbClr val="A5B4C9"/>
                </a:solidFill>
                <a:latin typeface="Aptos"/>
              </a:rPr>
              <a:t>Hash Reputation: MD5/SHA-1/SHA-256 → known-malware hit/miss
YARA: packer/malware patterns, strings, obfuscation markers
ML static classifier: entropy, PE headers, imports, packer, strings → probability
Phishing-URL: domain age, SSL, homoglyph/typosquat, reputation, redirects
All four run in parallel; raw signals move forward.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4069080"/>
            <a:ext cx="109728" cy="0"/>
          </a:xfrm>
          <a:prstGeom prst="line">
            <a:avLst/>
          </a:prstGeom>
          <a:ln w="1270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2962656"/>
            <a:ext cx="2788920" cy="22219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3017520"/>
            <a:ext cx="2660903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9D70FF"/>
                </a:solidFill>
                <a:latin typeface="Aptos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3218688"/>
            <a:ext cx="2642615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Layer 2 — Deep Parallel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584448"/>
            <a:ext cx="2606039" cy="1517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625" b="0">
                <a:solidFill>
                  <a:srgbClr val="A5B4C9"/>
                </a:solidFill>
                <a:latin typeface="Aptos"/>
              </a:rPr>
              <a:t>Static Analysis — control-flow anomalies, embedded PE/scripts, VBA/macros, packing, entropy, signatures, timestamps
CDR — strips/rebuilds active content
Honeypot Observer — decoy credentials/files, canaries, lateral probes, honey-DNS
Ransomware Time Machine — snapshots, abnormal I/O, entropy-change detection
Combined output feeds the fusion layer.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4069080"/>
            <a:ext cx="109728" cy="0"/>
          </a:xfrm>
          <a:prstGeom prst="line">
            <a:avLst/>
          </a:prstGeom>
          <a:ln w="1270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72200" y="2962656"/>
            <a:ext cx="2788920" cy="22219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3017520"/>
            <a:ext cx="2660903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9D70FF"/>
                </a:solidFill>
                <a:latin typeface="Aptos"/>
              </a:rPr>
              <a:t>STAGE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3218688"/>
            <a:ext cx="2642615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Layer 3 — Attacker-Intent / Trust 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584448"/>
            <a:ext cx="2606039" cy="1517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625" b="0">
                <a:solidFill>
                  <a:srgbClr val="A5B4C9"/>
                </a:solidFill>
                <a:latin typeface="Aptos"/>
              </a:rPr>
              <a:t>Fuses Layer 1 + Layer 2 signals using weighted aggregation:
hash result + YARA severity + ML probability + phishing score + static anomalies + CDR + honeypot + Time Machine.
Output: ONE 0–100 trust/risk score.
0–30 low • 31–70 medium • 71–100 high.
Important: this is risk, NOT malware-type classification.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61120" y="4069080"/>
            <a:ext cx="109728" cy="0"/>
          </a:xfrm>
          <a:prstGeom prst="line">
            <a:avLst/>
          </a:prstGeom>
          <a:ln w="1270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98280" y="2962656"/>
            <a:ext cx="2788920" cy="222199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3017520"/>
            <a:ext cx="2660903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9D70FF"/>
                </a:solidFill>
                <a:latin typeface="Aptos"/>
              </a:rPr>
              <a:t>STAGE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3218688"/>
            <a:ext cx="2642615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Policy / Decision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3584448"/>
            <a:ext cx="2606039" cy="1517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625" b="0">
                <a:solidFill>
                  <a:srgbClr val="A5B4C9"/>
                </a:solidFill>
                <a:latin typeface="Aptos"/>
              </a:rPr>
              <a:t>Converts the trust score into action:
0–30 → PASS / normal delivery
31–70 → SANDBOX → ephemeral digital twin
71–100 → BLOCK + quarantine + SOC alert
Org-specific policy can tighten thresholds.
Human approval/override remains a gate for containment/blocking actions beyond automatic triage.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330952"/>
            <a:ext cx="11475720" cy="274320"/>
          </a:xfrm>
          <a:prstGeom prst="roundRect">
            <a:avLst/>
          </a:prstGeom>
          <a:solidFill>
            <a:srgbClr val="47DC99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59" y="5372100"/>
            <a:ext cx="11384280" cy="164592"/>
          </a:xfrm>
          <a:prstGeom prst="rect">
            <a:avLst/>
          </a:prstGeom>
          <a:noFill/>
        </p:spPr>
        <p:txBody>
          <a:bodyPr wrap="square" lIns="32004" rIns="32004" tIns="18288" bIns="18288" anchor="ctr">
            <a:spAutoFit/>
          </a:bodyPr>
          <a:lstStyle/>
          <a:p>
            <a:pPr algn="ctr"/>
            <a:r>
              <a:rPr sz="770" b="1">
                <a:solidFill>
                  <a:srgbClr val="F2F6FC"/>
                </a:solidFill>
                <a:latin typeface="Aptos"/>
              </a:rPr>
              <a:t>MID-EXPLOITATION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660136"/>
            <a:ext cx="2788920" cy="10515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715000"/>
            <a:ext cx="2660903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47DC99"/>
                </a:solidFill>
                <a:latin typeface="Aptos"/>
              </a:rPr>
              <a:t>STAGE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5916168"/>
            <a:ext cx="2642615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Digital-Twin Instantiation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6281928"/>
            <a:ext cx="2606039" cy="3474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585" b="0">
                <a:solidFill>
                  <a:srgbClr val="A5B4C9"/>
                </a:solidFill>
                <a:latin typeface="Aptos"/>
              </a:rPr>
              <a:t>Triggered ONLY by a medium score.
One disposable multi-node twin per detonation:
Fake Domain Controller • File Server • Email Server • Database • Backup Server • Employee Endpoints • Detonation-Point VM.
Built from current network-discovery data: hostnames, domain structure and folder conventions → defeats sandbox-evasion checks.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108960" y="6190488"/>
            <a:ext cx="109728" cy="0"/>
          </a:xfrm>
          <a:prstGeom prst="line">
            <a:avLst/>
          </a:prstGeom>
          <a:ln w="1270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246120" y="5660136"/>
            <a:ext cx="2788920" cy="10515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0128" y="5715000"/>
            <a:ext cx="2660903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47DC99"/>
                </a:solidFill>
                <a:latin typeface="Aptos"/>
              </a:rPr>
              <a:t>STAGE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9272" y="5916168"/>
            <a:ext cx="2642615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Covert Hypervisor AI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6281928"/>
            <a:ext cx="2606039" cy="3474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585" b="0">
                <a:solidFill>
                  <a:srgbClr val="A5B4C9"/>
                </a:solidFill>
                <a:latin typeface="Aptos"/>
              </a:rPr>
              <a:t>Observer stays OUTSIDE the guest VMs and watches through VMI at the hypervisor layer.
Monitors: memory • syscalls • process creation • network traffic • filesystem/registry changes.
Four continuous functions:
Behaviour Watcher • Intent Classifier • ATT&amp;CK Mapper • Risk Scorer.
No live verdict by design; waits for full run/timeout → complete forensic report.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35040" y="6190488"/>
            <a:ext cx="109728" cy="0"/>
          </a:xfrm>
          <a:prstGeom prst="line">
            <a:avLst/>
          </a:prstGeom>
          <a:ln w="1270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172200" y="5660136"/>
            <a:ext cx="2788920" cy="10515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5715000"/>
            <a:ext cx="2660903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47DC99"/>
                </a:solidFill>
                <a:latin typeface="Aptos"/>
              </a:rPr>
              <a:t>STAGE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5916168"/>
            <a:ext cx="2642615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Detonation → Classification → Blast Radius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6281928"/>
            <a:ext cx="2606039" cy="3474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585" b="0">
                <a:solidFill>
                  <a:srgbClr val="A5B4C9"/>
                </a:solidFill>
                <a:latin typeface="Aptos"/>
              </a:rPr>
              <a:t>File executes on the Detonation-Point VM.
Agent observes the full run.
ONLY AFTER behaviour is observed: classify ransomware / trojan / worm / RAT / botnet / benign.
Twin topology predicts blast radius: first → second → third assets at risk.
Containment recommendation is prepared, but human approval is required.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961120" y="6190488"/>
            <a:ext cx="109728" cy="0"/>
          </a:xfrm>
          <a:prstGeom prst="line">
            <a:avLst/>
          </a:prstGeom>
          <a:ln w="1270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098280" y="5660136"/>
            <a:ext cx="2788920" cy="105156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2288" y="5715000"/>
            <a:ext cx="2660903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47DC99"/>
                </a:solidFill>
                <a:latin typeface="Aptos"/>
              </a:rPr>
              <a:t>STAGE 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71432" y="5916168"/>
            <a:ext cx="2642615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Unconditional Twin Disposal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19" y="6281928"/>
            <a:ext cx="2606039" cy="3474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585" b="0">
                <a:solidFill>
                  <a:srgbClr val="A5B4C9"/>
                </a:solidFill>
                <a:latin typeface="Aptos"/>
              </a:rPr>
              <a:t>After EVERY run — malicious or harmless — the disposable twin is destroyed:
VM termination • Memory zeroing • Disk cryptoshredding • VPC teardown.
Disposal is NOT triggered by a high score.
Containment recommendation is verdict-dependent; disposal is unconditional.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" y="6830568"/>
            <a:ext cx="11064240" cy="164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F2F6FC"/>
                </a:solidFill>
                <a:latin typeface="Aptos"/>
              </a:rPr>
              <a:t>O-NYX boundary: Stage 8 ends the disposable analysis environment. TRACE begins with evidence harvest BEFORE disposal is allowed to proceed.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2500" b="1">
                <a:solidFill>
                  <a:srgbClr val="F2F6FC"/>
                </a:solidFill>
                <a:latin typeface="Aptos"/>
              </a:rPr>
              <a:t>7. Real-Life Use Case — “The Fake Invoice”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050" b="0">
                <a:solidFill>
                  <a:srgbClr val="A5B4C9"/>
                </a:solidFill>
                <a:latin typeface="Aptos"/>
              </a:rPr>
              <a:t>Scenario from the supplied O-NYX + TRACE walkthrough; TRACE/post-exploitation content omitted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91440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27048"/>
            <a:ext cx="10607040" cy="34747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500" b="1">
                <a:solidFill>
                  <a:srgbClr val="F2F6FC"/>
                </a:solidFill>
                <a:latin typeface="Aptos"/>
              </a:rPr>
              <a:t>TechNova Pvt Ltd  •  Target: Priya, Finance  •  Attachment: Invoice_August.zip (spoofed PDF icon, actually executable)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14600"/>
            <a:ext cx="1444752" cy="2468880"/>
          </a:xfrm>
          <a:prstGeom prst="roundRect">
            <a:avLst/>
          </a:prstGeom>
          <a:solidFill>
            <a:srgbClr val="5891FF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670048"/>
            <a:ext cx="32004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600" b="1">
                <a:solidFill>
                  <a:srgbClr val="5891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3044952"/>
            <a:ext cx="1280160" cy="384048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  <a:latin typeface="Aptos"/>
              </a:rPr>
              <a:t>Intercept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584448"/>
            <a:ext cx="1280160" cy="1097280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50" b="0">
                <a:solidFill>
                  <a:srgbClr val="A5B4C9"/>
                </a:solidFill>
                <a:latin typeface="Aptos"/>
              </a:rPr>
              <a:t>Email gateway catches
attachment before inbox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47672" y="3749039"/>
            <a:ext cx="155448" cy="0"/>
          </a:xfrm>
          <a:prstGeom prst="line">
            <a:avLst/>
          </a:prstGeom>
          <a:ln w="2159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03120" y="2514600"/>
            <a:ext cx="1444752" cy="2468880"/>
          </a:xfrm>
          <a:prstGeom prst="roundRect">
            <a:avLst/>
          </a:prstGeom>
          <a:solidFill>
            <a:srgbClr val="9D70FF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76272" y="2670048"/>
            <a:ext cx="32004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600" b="1">
                <a:solidFill>
                  <a:srgbClr val="9D70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3044952"/>
            <a:ext cx="1280160" cy="384048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  <a:latin typeface="Aptos"/>
              </a:rPr>
              <a:t>Pre-screen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3584448"/>
            <a:ext cx="1280160" cy="1097280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50" b="0">
                <a:solidFill>
                  <a:srgbClr val="A5B4C9"/>
                </a:solidFill>
                <a:latin typeface="Aptos"/>
              </a:rPr>
              <a:t>New hash + YARA miss +
extension/icon mismatch + risky domain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47872" y="3749039"/>
            <a:ext cx="155448" cy="0"/>
          </a:xfrm>
          <a:prstGeom prst="line">
            <a:avLst/>
          </a:prstGeom>
          <a:ln w="2159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03320" y="2514600"/>
            <a:ext cx="1444752" cy="2468880"/>
          </a:xfrm>
          <a:prstGeom prst="roundRect">
            <a:avLst/>
          </a:prstGeom>
          <a:solidFill>
            <a:srgbClr val="32CDFF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2670048"/>
            <a:ext cx="32004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600" b="1">
                <a:solidFill>
                  <a:srgbClr val="32CD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3044952"/>
            <a:ext cx="1280160" cy="384048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  <a:latin typeface="Aptos"/>
              </a:rPr>
              <a:t>Trust 32/100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3584448"/>
            <a:ext cx="1280160" cy="1097280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50" b="0">
                <a:solidFill>
                  <a:srgbClr val="A5B4C9"/>
                </a:solidFill>
                <a:latin typeface="Aptos"/>
              </a:rPr>
              <a:t>Ambiguous → deep sandbox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48072" y="3749039"/>
            <a:ext cx="155448" cy="0"/>
          </a:xfrm>
          <a:prstGeom prst="line">
            <a:avLst/>
          </a:prstGeom>
          <a:ln w="2159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03520" y="2514600"/>
            <a:ext cx="1444752" cy="2468880"/>
          </a:xfrm>
          <a:prstGeom prst="roundRect">
            <a:avLst/>
          </a:prstGeom>
          <a:solidFill>
            <a:srgbClr val="FFAE49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6672" y="2670048"/>
            <a:ext cx="32004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600" b="1">
                <a:solidFill>
                  <a:srgbClr val="FFAE49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3044952"/>
            <a:ext cx="1280160" cy="384048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  <a:latin typeface="Aptos"/>
              </a:rPr>
              <a:t>Digital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3584448"/>
            <a:ext cx="1280160" cy="1097280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50" b="0">
                <a:solidFill>
                  <a:srgbClr val="A5B4C9"/>
                </a:solidFill>
                <a:latin typeface="Aptos"/>
              </a:rPr>
              <a:t>Fake Finance PC + AD + file server + DB + backup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48272" y="3749039"/>
            <a:ext cx="155448" cy="0"/>
          </a:xfrm>
          <a:prstGeom prst="line">
            <a:avLst/>
          </a:prstGeom>
          <a:ln w="2159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03720" y="2514600"/>
            <a:ext cx="1444752" cy="2468880"/>
          </a:xfrm>
          <a:prstGeom prst="roundRect">
            <a:avLst/>
          </a:prstGeom>
          <a:solidFill>
            <a:srgbClr val="FF5A6D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2670048"/>
            <a:ext cx="32004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600" b="1">
                <a:solidFill>
                  <a:srgbClr val="FF5A6D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044952"/>
            <a:ext cx="1280160" cy="384048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  <a:latin typeface="Aptos"/>
              </a:rPr>
              <a:t>Covert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3584448"/>
            <a:ext cx="1280160" cy="1097280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50" b="0">
                <a:solidFill>
                  <a:srgbClr val="A5B4C9"/>
                </a:solidFill>
                <a:latin typeface="Aptos"/>
              </a:rPr>
              <a:t>Recon → credential dumping → mass encryption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48471" y="3749039"/>
            <a:ext cx="155449" cy="0"/>
          </a:xfrm>
          <a:prstGeom prst="line">
            <a:avLst/>
          </a:prstGeom>
          <a:ln w="2159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03920" y="2514600"/>
            <a:ext cx="1444752" cy="2468880"/>
          </a:xfrm>
          <a:prstGeom prst="roundRect">
            <a:avLst/>
          </a:prstGeom>
          <a:solidFill>
            <a:srgbClr val="FF5A6D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7072" y="2670048"/>
            <a:ext cx="32004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600" b="1">
                <a:solidFill>
                  <a:srgbClr val="FF5A6D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3044952"/>
            <a:ext cx="1280160" cy="384048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  <a:latin typeface="Aptos"/>
              </a:rPr>
              <a:t>Ransomware 94%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7072" y="3584448"/>
            <a:ext cx="1280160" cy="1097280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50" b="0">
                <a:solidFill>
                  <a:srgbClr val="A5B4C9"/>
                </a:solidFill>
                <a:latin typeface="Aptos"/>
              </a:rPr>
              <a:t>ATT&amp;CK mapping + predicted path:
Finance PC → shared drive → backup → DB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48672" y="3749039"/>
            <a:ext cx="155448" cy="0"/>
          </a:xfrm>
          <a:prstGeom prst="line">
            <a:avLst/>
          </a:prstGeom>
          <a:ln w="2159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04120" y="2514600"/>
            <a:ext cx="1444752" cy="2468880"/>
          </a:xfrm>
          <a:prstGeom prst="roundRect">
            <a:avLst/>
          </a:prstGeom>
          <a:solidFill>
            <a:srgbClr val="47DC99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77272" y="2670048"/>
            <a:ext cx="32004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600" b="1">
                <a:solidFill>
                  <a:srgbClr val="47DC99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7272" y="3044952"/>
            <a:ext cx="1280160" cy="384048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  <a:latin typeface="Aptos"/>
              </a:rPr>
              <a:t>Contain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7272" y="3584448"/>
            <a:ext cx="1280160" cy="1097280"/>
          </a:xfrm>
          <a:prstGeom prst="rect">
            <a:avLst/>
          </a:prstGeom>
          <a:noFill/>
        </p:spPr>
        <p:txBody>
          <a:bodyPr wrap="square" lIns="32004" rIns="32004" tIns="32004" bIns="32004" anchor="ctr">
            <a:spAutoFit/>
          </a:bodyPr>
          <a:lstStyle/>
          <a:p>
            <a:pPr algn="ctr"/>
            <a:r>
              <a:rPr sz="950" b="0">
                <a:solidFill>
                  <a:srgbClr val="A5B4C9"/>
                </a:solidFill>
                <a:latin typeface="Aptos"/>
              </a:rPr>
              <a:t>Block + SOC alert + suggested
ransomware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700" b="1">
                <a:solidFill>
                  <a:srgbClr val="47DC99"/>
                </a:solidFill>
                <a:latin typeface="Aptos"/>
              </a:rPr>
              <a:t>Result: Priya never receives the attachment; the real network is never exposed to the malware.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28816"/>
            <a:ext cx="109728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800" b="0">
                <a:solidFill>
                  <a:srgbClr val="A5B4C9"/>
                </a:solidFill>
                <a:latin typeface="Aptos"/>
              </a:rPr>
              <a:t>O-NYX  |  Research Framework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2500" b="1">
                <a:solidFill>
                  <a:srgbClr val="F2F6FC"/>
                </a:solidFill>
                <a:latin typeface="Aptos"/>
              </a:rPr>
              <a:t>8. Outcomes &amp; Research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050" b="0">
                <a:solidFill>
                  <a:srgbClr val="A5B4C9"/>
                </a:solidFill>
                <a:latin typeface="Aptos"/>
              </a:rPr>
              <a:t>What O-NYX contributes beyond “malware detected”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40680" cy="489204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800" b="1">
                <a:solidFill>
                  <a:srgbClr val="47DC99"/>
                </a:solidFill>
                <a:latin typeface="Aptos"/>
              </a:rP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572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Reduce exposure by intercepting suspicious objects before endpoint delivery.</a:t>
            </a:r>
          </a:p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Reduce false negatives caused by generic sandbox fingerprinting.</a:t>
            </a:r>
          </a:p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Classify the attack objective, not only the file as safe/malicious.</a:t>
            </a:r>
          </a:p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Produce an interpretable behavioural profile with ATT&amp;CK techniques.</a:t>
            </a:r>
          </a:p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Estimate a potential attack path and blast radius inside a simulated organisation.</a:t>
            </a:r>
          </a:p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Support human-approved containment actions without executing them blindly in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486400" cy="489204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48056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800" b="1">
                <a:solidFill>
                  <a:srgbClr val="32CDFF"/>
                </a:solidFill>
                <a:latin typeface="Aptos"/>
              </a:rPr>
              <a:t>Novelty direction for the research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7091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End-to-end pre-exploitation interception + mid-exploitation digital-twin analysis.</a:t>
            </a:r>
          </a:p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Adaptive routing: only ambiguous objects consume deep sandbox resources.</a:t>
            </a:r>
          </a:p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Realistic organisation twin designed to reduce sandbox-evasion false negatives.</a:t>
            </a:r>
          </a:p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Covert AI observes through VM introspection rather than relying only on in-guest visibility.</a:t>
            </a:r>
          </a:p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Behaviour + intent + ATT&amp;CK + blast-radius reasoning are combined into one decision workflow.</a:t>
            </a:r>
          </a:p>
          <a:p>
            <a:pPr>
              <a:spcAft>
                <a:spcPts val="7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Novelty must be demonstrated against specific prior papers/patents and experimentally evaluated.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109728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800" b="0">
                <a:solidFill>
                  <a:srgbClr val="A5B4C9"/>
                </a:solidFill>
                <a:latin typeface="Aptos"/>
              </a:rPr>
              <a:t>O-NYX  |  Research Framework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2500" b="1">
                <a:solidFill>
                  <a:srgbClr val="F2F6FC"/>
                </a:solidFill>
                <a:latin typeface="Aptos"/>
              </a:rPr>
              <a:t>9. Target Journals / Literature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050" b="0">
                <a:solidFill>
                  <a:srgbClr val="A5B4C9"/>
                </a:solidFill>
                <a:latin typeface="Aptos"/>
              </a:rPr>
              <a:t>Candidate venues supplied for the research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789920" cy="621792"/>
          </a:xfrm>
          <a:prstGeom prst="roundRect">
            <a:avLst/>
          </a:prstGeom>
          <a:solidFill>
            <a:srgbClr val="2C3E5C"/>
          </a:solidFill>
          <a:ln w="12700"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32004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300" b="1">
                <a:solidFill>
                  <a:srgbClr val="32CD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35607"/>
            <a:ext cx="964692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400" b="1">
                <a:solidFill>
                  <a:srgbClr val="F2F6FC"/>
                </a:solidFill>
                <a:latin typeface="Aptos"/>
              </a:rPr>
              <a:t>International Journal of Computer Applications in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30552"/>
            <a:ext cx="10789920" cy="621792"/>
          </a:xfrm>
          <a:prstGeom prst="roundRect">
            <a:avLst/>
          </a:prstGeom>
          <a:solidFill>
            <a:srgbClr val="2C3E5C"/>
          </a:solidFill>
          <a:ln w="12700"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2004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300" b="1">
                <a:solidFill>
                  <a:srgbClr val="32CD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40280"/>
            <a:ext cx="964692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400" b="1">
                <a:solidFill>
                  <a:srgbClr val="F2F6FC"/>
                </a:solidFill>
                <a:latin typeface="Aptos"/>
              </a:rPr>
              <a:t>International Journal of Security and Networks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35224"/>
            <a:ext cx="10789920" cy="621792"/>
          </a:xfrm>
          <a:prstGeom prst="roundRect">
            <a:avLst/>
          </a:prstGeom>
          <a:solidFill>
            <a:srgbClr val="2C3E5C"/>
          </a:solidFill>
          <a:ln w="12700"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44952"/>
            <a:ext cx="32004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300" b="1">
                <a:solidFill>
                  <a:srgbClr val="32CD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44952"/>
            <a:ext cx="964692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400" b="1">
                <a:solidFill>
                  <a:srgbClr val="F2F6FC"/>
                </a:solidFill>
                <a:latin typeface="Aptos"/>
              </a:rPr>
              <a:t>International Journal of Electronic Security and Digital Forensics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39896"/>
            <a:ext cx="10789920" cy="621792"/>
          </a:xfrm>
          <a:prstGeom prst="roundRect">
            <a:avLst/>
          </a:prstGeom>
          <a:solidFill>
            <a:srgbClr val="2C3E5C"/>
          </a:solidFill>
          <a:ln w="12700"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9624"/>
            <a:ext cx="32004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300" b="1">
                <a:solidFill>
                  <a:srgbClr val="32CD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49624"/>
            <a:ext cx="964692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400" b="1">
                <a:solidFill>
                  <a:srgbClr val="F2F6FC"/>
                </a:solidFill>
                <a:latin typeface="Aptos"/>
              </a:rPr>
              <a:t>International Journal of Information and Computer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44568"/>
            <a:ext cx="10789920" cy="621792"/>
          </a:xfrm>
          <a:prstGeom prst="roundRect">
            <a:avLst/>
          </a:prstGeom>
          <a:solidFill>
            <a:srgbClr val="2C3E5C"/>
          </a:solidFill>
          <a:ln w="12700"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54296"/>
            <a:ext cx="320040" cy="27432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300" b="1">
                <a:solidFill>
                  <a:srgbClr val="32CD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54296"/>
            <a:ext cx="964692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1400" b="1">
                <a:solidFill>
                  <a:srgbClr val="F2F6FC"/>
                </a:solidFill>
                <a:latin typeface="Aptos"/>
              </a:rPr>
              <a:t>International Journal of Computer Aided Engineering and Technology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440680"/>
            <a:ext cx="10789920" cy="658368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10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05272"/>
            <a:ext cx="10241280" cy="320040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ctr"/>
            <a:r>
              <a:rPr sz="1050" b="0">
                <a:solidFill>
                  <a:srgbClr val="A5B4C9"/>
                </a:solidFill>
                <a:latin typeface="Aptos"/>
              </a:rPr>
              <a:t>Candidate target journals; final selection should follow scope, article type, novelty, and current submission requirements.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28816"/>
            <a:ext cx="10972800" cy="164592"/>
          </a:xfrm>
          <a:prstGeom prst="rect">
            <a:avLst/>
          </a:prstGeom>
          <a:noFill/>
        </p:spPr>
        <p:txBody>
          <a:bodyPr wrap="square" lIns="32004" rIns="32004" tIns="32004" bIns="32004" anchor="t">
            <a:spAutoFit/>
          </a:bodyPr>
          <a:lstStyle/>
          <a:p>
            <a:pPr algn="l"/>
            <a:r>
              <a:rPr sz="800" b="0">
                <a:solidFill>
                  <a:srgbClr val="A5B4C9"/>
                </a:solidFill>
                <a:latin typeface="Aptos"/>
              </a:rPr>
              <a:t>O-NYX  |  Research Framework  •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